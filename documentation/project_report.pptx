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8"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4268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2266905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txBox="1"/>
          <p:nvPr/>
        </p:nvSpPr>
        <p:spPr>
          <a:xfrm>
            <a:off x="640080" y="1554480"/>
            <a:ext cx="6766560" cy="2011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Heat Stress Mapping of Indian Metro Cities</a:t>
            </a:r>
            <a:endParaRPr lang="en-US" sz="4400" dirty="0"/>
          </a:p>
        </p:txBody>
      </p:sp>
      <p:sp>
        <p:nvSpPr>
          <p:cNvPr id="3" name="Text 1"/>
          <p:cNvSpPr txBox="1"/>
          <p:nvPr/>
        </p:nvSpPr>
        <p:spPr>
          <a:xfrm>
            <a:off x="640080" y="3749040"/>
            <a:ext cx="6583680" cy="1097280"/>
          </a:xfrm>
          <a:prstGeom prst="rect">
            <a:avLst/>
          </a:prstGeom>
          <a:noFill/>
          <a:ln/>
        </p:spPr>
        <p:txBody>
          <a:bodyPr wrap="square" lIns="0" tIns="0" rIns="0" bIns="0" rtlCol="0" anchor="t"/>
          <a:lstStyle/>
          <a:p>
            <a:pPr marL="0" indent="0">
              <a:buNone/>
            </a:pPr>
            <a:r>
              <a:rPr lang="en-US" sz="2000" dirty="0">
                <a:solidFill>
                  <a:srgbClr val="CADCFC"/>
                </a:solidFill>
                <a:latin typeface="Calibri" pitchFamily="34" charset="0"/>
                <a:ea typeface="Calibri" pitchFamily="34" charset="-122"/>
                <a:cs typeface="Calibri" pitchFamily="34" charset="-120"/>
              </a:rPr>
              <a:t>Humidity-adjusted heat risk across six cities, 2010–2025: a Python data analysis project</a:t>
            </a:r>
            <a:endParaRPr lang="en-US" sz="2000" dirty="0"/>
          </a:p>
        </p:txBody>
      </p:sp>
      <p:sp>
        <p:nvSpPr>
          <p:cNvPr id="4" name="Shape 2"/>
          <p:cNvSpPr/>
          <p:nvPr/>
        </p:nvSpPr>
        <p:spPr>
          <a:xfrm>
            <a:off x="7955280" y="1371600"/>
            <a:ext cx="3657600" cy="4114800"/>
          </a:xfrm>
          <a:prstGeom prst="roundRect">
            <a:avLst>
              <a:gd name="adj" fmla="val 3000"/>
            </a:avLst>
          </a:prstGeom>
          <a:solidFill>
            <a:srgbClr val="22345C"/>
          </a:solidFill>
          <a:ln w="12700">
            <a:solidFill>
              <a:srgbClr val="22345C"/>
            </a:solidFill>
            <a:prstDash val="solid"/>
          </a:ln>
        </p:spPr>
      </p:sp>
      <p:sp>
        <p:nvSpPr>
          <p:cNvPr id="5" name="Text 3"/>
          <p:cNvSpPr txBox="1"/>
          <p:nvPr/>
        </p:nvSpPr>
        <p:spPr>
          <a:xfrm>
            <a:off x="8229600" y="1645920"/>
            <a:ext cx="3108960" cy="274320"/>
          </a:xfrm>
          <a:prstGeom prst="rect">
            <a:avLst/>
          </a:prstGeom>
          <a:noFill/>
          <a:ln/>
        </p:spPr>
        <p:txBody>
          <a:bodyPr wrap="square" lIns="0" tIns="0" rIns="0" bIns="0" rtlCol="0" anchor="t"/>
          <a:lstStyle/>
          <a:p>
            <a:pPr marL="0" indent="0">
              <a:buNone/>
            </a:pPr>
            <a:r>
              <a:rPr lang="en-US" sz="1200" dirty="0">
                <a:solidFill>
                  <a:srgbClr val="9FB3D9"/>
                </a:solidFill>
                <a:latin typeface="Calibri" pitchFamily="34" charset="0"/>
                <a:ea typeface="Calibri" pitchFamily="34" charset="-122"/>
                <a:cs typeface="Calibri" pitchFamily="34" charset="-120"/>
              </a:rPr>
              <a:t>Industry</a:t>
            </a:r>
            <a:endParaRPr lang="en-US" sz="1200" dirty="0"/>
          </a:p>
        </p:txBody>
      </p:sp>
      <p:sp>
        <p:nvSpPr>
          <p:cNvPr id="6" name="Text 4"/>
          <p:cNvSpPr txBox="1"/>
          <p:nvPr/>
        </p:nvSpPr>
        <p:spPr>
          <a:xfrm>
            <a:off x="8229600" y="1901952"/>
            <a:ext cx="3108960" cy="36576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Climate &amp; Environmental Analytics</a:t>
            </a:r>
            <a:endParaRPr lang="en-US" sz="1700" dirty="0"/>
          </a:p>
        </p:txBody>
      </p:sp>
      <p:sp>
        <p:nvSpPr>
          <p:cNvPr id="7" name="Text 5"/>
          <p:cNvSpPr txBox="1"/>
          <p:nvPr/>
        </p:nvSpPr>
        <p:spPr>
          <a:xfrm>
            <a:off x="8229600" y="2395728"/>
            <a:ext cx="3108960" cy="274320"/>
          </a:xfrm>
          <a:prstGeom prst="rect">
            <a:avLst/>
          </a:prstGeom>
          <a:noFill/>
          <a:ln/>
        </p:spPr>
        <p:txBody>
          <a:bodyPr wrap="square" lIns="0" tIns="0" rIns="0" bIns="0" rtlCol="0" anchor="t"/>
          <a:lstStyle/>
          <a:p>
            <a:pPr marL="0" indent="0">
              <a:buNone/>
            </a:pPr>
            <a:r>
              <a:rPr lang="en-US" sz="1200" dirty="0">
                <a:solidFill>
                  <a:srgbClr val="9FB3D9"/>
                </a:solidFill>
                <a:latin typeface="Calibri" pitchFamily="34" charset="0"/>
                <a:ea typeface="Calibri" pitchFamily="34" charset="-122"/>
                <a:cs typeface="Calibri" pitchFamily="34" charset="-120"/>
              </a:rPr>
              <a:t>Student Name</a:t>
            </a:r>
            <a:endParaRPr lang="en-US" sz="1200" dirty="0"/>
          </a:p>
        </p:txBody>
      </p:sp>
      <p:sp>
        <p:nvSpPr>
          <p:cNvPr id="8" name="Text 6"/>
          <p:cNvSpPr txBox="1"/>
          <p:nvPr/>
        </p:nvSpPr>
        <p:spPr>
          <a:xfrm>
            <a:off x="8229600" y="2651760"/>
            <a:ext cx="3108960" cy="36576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Dhanaraj A</a:t>
            </a:r>
            <a:endParaRPr lang="en-US" sz="1700" dirty="0"/>
          </a:p>
        </p:txBody>
      </p:sp>
      <p:sp>
        <p:nvSpPr>
          <p:cNvPr id="9" name="Text 7"/>
          <p:cNvSpPr txBox="1"/>
          <p:nvPr/>
        </p:nvSpPr>
        <p:spPr>
          <a:xfrm>
            <a:off x="8229600" y="3145536"/>
            <a:ext cx="3108960" cy="274320"/>
          </a:xfrm>
          <a:prstGeom prst="rect">
            <a:avLst/>
          </a:prstGeom>
          <a:noFill/>
          <a:ln/>
        </p:spPr>
        <p:txBody>
          <a:bodyPr wrap="square" lIns="0" tIns="0" rIns="0" bIns="0" rtlCol="0" anchor="t"/>
          <a:lstStyle/>
          <a:p>
            <a:pPr marL="0" indent="0">
              <a:buNone/>
            </a:pPr>
            <a:r>
              <a:rPr lang="en-US" sz="1200" dirty="0">
                <a:solidFill>
                  <a:srgbClr val="9FB3D9"/>
                </a:solidFill>
                <a:latin typeface="Calibri" pitchFamily="34" charset="0"/>
                <a:ea typeface="Calibri" pitchFamily="34" charset="-122"/>
                <a:cs typeface="Calibri" pitchFamily="34" charset="-120"/>
              </a:rPr>
              <a:t>Student ID</a:t>
            </a:r>
            <a:endParaRPr lang="en-US" sz="1200" dirty="0"/>
          </a:p>
        </p:txBody>
      </p:sp>
      <p:sp>
        <p:nvSpPr>
          <p:cNvPr id="10" name="Text 8"/>
          <p:cNvSpPr txBox="1"/>
          <p:nvPr/>
        </p:nvSpPr>
        <p:spPr>
          <a:xfrm>
            <a:off x="8229600" y="3401568"/>
            <a:ext cx="3108960" cy="365760"/>
          </a:xfrm>
          <a:prstGeom prst="rect">
            <a:avLst/>
          </a:prstGeom>
          <a:noFill/>
          <a:ln/>
        </p:spPr>
        <p:txBody>
          <a:bodyPr wrap="square" lIns="0" tIns="0" rIns="0" bIns="0" rtlCol="0" anchor="t"/>
          <a:lstStyle/>
          <a:p>
            <a:r>
              <a:rPr lang="en-US" sz="1700" b="1" dirty="0">
                <a:solidFill>
                  <a:srgbClr val="FFFFFF"/>
                </a:solidFill>
                <a:latin typeface="Calibri" pitchFamily="34" charset="0"/>
                <a:ea typeface="Calibri" pitchFamily="34" charset="-122"/>
                <a:cs typeface="Calibri" pitchFamily="34" charset="-120"/>
              </a:rPr>
              <a:t>AF05309843</a:t>
            </a:r>
            <a:endParaRPr lang="en-US" sz="1700" dirty="0"/>
          </a:p>
        </p:txBody>
      </p:sp>
      <p:sp>
        <p:nvSpPr>
          <p:cNvPr id="11" name="Text 9"/>
          <p:cNvSpPr txBox="1"/>
          <p:nvPr/>
        </p:nvSpPr>
        <p:spPr>
          <a:xfrm>
            <a:off x="8229600" y="3895344"/>
            <a:ext cx="3108960" cy="274320"/>
          </a:xfrm>
          <a:prstGeom prst="rect">
            <a:avLst/>
          </a:prstGeom>
          <a:noFill/>
          <a:ln/>
        </p:spPr>
        <p:txBody>
          <a:bodyPr wrap="square" lIns="0" tIns="0" rIns="0" bIns="0" rtlCol="0" anchor="t"/>
          <a:lstStyle/>
          <a:p>
            <a:pPr marL="0" indent="0">
              <a:buNone/>
            </a:pPr>
            <a:r>
              <a:rPr lang="en-US" sz="1200" dirty="0">
                <a:solidFill>
                  <a:srgbClr val="9FB3D9"/>
                </a:solidFill>
                <a:latin typeface="Calibri" pitchFamily="34" charset="0"/>
                <a:ea typeface="Calibri" pitchFamily="34" charset="-122"/>
                <a:cs typeface="Calibri" pitchFamily="34" charset="-120"/>
              </a:rPr>
              <a:t>Course</a:t>
            </a:r>
            <a:endParaRPr lang="en-US" sz="1200" dirty="0"/>
          </a:p>
        </p:txBody>
      </p:sp>
      <p:sp>
        <p:nvSpPr>
          <p:cNvPr id="12" name="Text 10"/>
          <p:cNvSpPr txBox="1"/>
          <p:nvPr/>
        </p:nvSpPr>
        <p:spPr>
          <a:xfrm>
            <a:off x="8229600" y="4151376"/>
            <a:ext cx="3108960" cy="36576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AIML</a:t>
            </a:r>
            <a:endParaRPr lang="en-US" sz="1700" dirty="0"/>
          </a:p>
        </p:txBody>
      </p:sp>
      <p:sp>
        <p:nvSpPr>
          <p:cNvPr id="13" name="Text 11"/>
          <p:cNvSpPr txBox="1"/>
          <p:nvPr/>
        </p:nvSpPr>
        <p:spPr>
          <a:xfrm>
            <a:off x="8229600" y="4645152"/>
            <a:ext cx="3108960" cy="274320"/>
          </a:xfrm>
          <a:prstGeom prst="rect">
            <a:avLst/>
          </a:prstGeom>
          <a:noFill/>
          <a:ln/>
        </p:spPr>
        <p:txBody>
          <a:bodyPr wrap="square" lIns="0" tIns="0" rIns="0" bIns="0" rtlCol="0" anchor="t"/>
          <a:lstStyle/>
          <a:p>
            <a:pPr marL="0" indent="0">
              <a:buNone/>
            </a:pPr>
            <a:r>
              <a:rPr lang="en-US" sz="1200" dirty="0">
                <a:solidFill>
                  <a:srgbClr val="9FB3D9"/>
                </a:solidFill>
                <a:latin typeface="Calibri" pitchFamily="34" charset="0"/>
                <a:ea typeface="Calibri" pitchFamily="34" charset="-122"/>
                <a:cs typeface="Calibri" pitchFamily="34" charset="-120"/>
              </a:rPr>
              <a:t>Batch Code</a:t>
            </a:r>
            <a:endParaRPr lang="en-US" sz="1200" dirty="0"/>
          </a:p>
        </p:txBody>
      </p:sp>
      <p:sp>
        <p:nvSpPr>
          <p:cNvPr id="14" name="Text 12"/>
          <p:cNvSpPr txBox="1"/>
          <p:nvPr/>
        </p:nvSpPr>
        <p:spPr>
          <a:xfrm>
            <a:off x="8229600" y="4901184"/>
            <a:ext cx="3108960" cy="36576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ANP-D7444</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marL="0" indent="0">
              <a:buNone/>
            </a:pPr>
            <a:r>
              <a:rPr lang="en-US" sz="3400" b="1" dirty="0">
                <a:solidFill>
                  <a:srgbClr val="14213D"/>
                </a:solidFill>
                <a:latin typeface="Cambria" pitchFamily="34" charset="0"/>
                <a:ea typeface="Cambria" pitchFamily="34" charset="-122"/>
                <a:cs typeface="Cambria" pitchFamily="34" charset="-120"/>
              </a:rPr>
              <a:t>Industry Overview</a:t>
            </a:r>
            <a:endParaRPr lang="en-US" sz="3400" dirty="0"/>
          </a:p>
        </p:txBody>
      </p:sp>
      <p:sp>
        <p:nvSpPr>
          <p:cNvPr id="3" name="Shape 1"/>
          <p:cNvSpPr/>
          <p:nvPr/>
        </p:nvSpPr>
        <p:spPr>
          <a:xfrm>
            <a:off x="548640" y="1371600"/>
            <a:ext cx="5669280" cy="4754880"/>
          </a:xfrm>
          <a:prstGeom prst="roundRect">
            <a:avLst>
              <a:gd name="adj" fmla="val 2308"/>
            </a:avLst>
          </a:prstGeom>
          <a:solidFill>
            <a:srgbClr val="EEF2F6"/>
          </a:solidFill>
          <a:ln w="12700">
            <a:solidFill>
              <a:srgbClr val="EEF2F6"/>
            </a:solidFill>
            <a:prstDash val="solid"/>
          </a:ln>
        </p:spPr>
      </p:sp>
      <p:sp>
        <p:nvSpPr>
          <p:cNvPr id="4" name="Text 2"/>
          <p:cNvSpPr txBox="1"/>
          <p:nvPr/>
        </p:nvSpPr>
        <p:spPr>
          <a:xfrm>
            <a:off x="822960" y="1600200"/>
            <a:ext cx="5120640" cy="365760"/>
          </a:xfrm>
          <a:prstGeom prst="rect">
            <a:avLst/>
          </a:prstGeom>
          <a:noFill/>
          <a:ln/>
        </p:spPr>
        <p:txBody>
          <a:bodyPr wrap="square" lIns="0" tIns="0" rIns="0" bIns="0" rtlCol="0" anchor="t"/>
          <a:lstStyle/>
          <a:p>
            <a:pPr marL="0" indent="0">
              <a:buNone/>
            </a:pPr>
            <a:r>
              <a:rPr lang="en-US" sz="2000" b="1" dirty="0">
                <a:solidFill>
                  <a:srgbClr val="14213D"/>
                </a:solidFill>
                <a:latin typeface="Cambria" pitchFamily="34" charset="0"/>
                <a:ea typeface="Cambria" pitchFamily="34" charset="-122"/>
                <a:cs typeface="Cambria" pitchFamily="34" charset="-120"/>
              </a:rPr>
              <a:t>Climate &amp; Environmental Analytics</a:t>
            </a:r>
            <a:endParaRPr lang="en-US" sz="2000" dirty="0"/>
          </a:p>
        </p:txBody>
      </p:sp>
      <p:sp>
        <p:nvSpPr>
          <p:cNvPr id="5" name="Text 3"/>
          <p:cNvSpPr txBox="1"/>
          <p:nvPr/>
        </p:nvSpPr>
        <p:spPr>
          <a:xfrm>
            <a:off x="822960" y="2194560"/>
            <a:ext cx="5120640" cy="2743200"/>
          </a:xfrm>
          <a:prstGeom prst="rect">
            <a:avLst/>
          </a:prstGeom>
          <a:noFill/>
          <a:ln/>
        </p:spPr>
        <p:txBody>
          <a:bodyPr wrap="square" lIns="0" tIns="0" rIns="0" bIns="0" rtlCol="0" anchor="t"/>
          <a:lstStyle/>
          <a:p>
            <a:pPr marL="0" indent="0">
              <a:buNone/>
            </a:pPr>
            <a:r>
              <a:rPr lang="en-US" sz="1600" dirty="0">
                <a:solidFill>
                  <a:srgbClr val="22303C"/>
                </a:solidFill>
                <a:latin typeface="Calibri" pitchFamily="34" charset="0"/>
                <a:ea typeface="Calibri" pitchFamily="34" charset="-122"/>
                <a:cs typeface="Calibri" pitchFamily="34" charset="-120"/>
              </a:rPr>
              <a:t>This industry uses weather and climate data to monitor conditions, assess risk and guide decisions in public health, urban planning and disaster preparedness. Indian cities face recurring extreme heat, so dependable heat-risk analysis is a practical need for planners and health authorities.</a:t>
            </a:r>
            <a:endParaRPr lang="en-US" sz="1600" dirty="0"/>
          </a:p>
        </p:txBody>
      </p:sp>
      <p:sp>
        <p:nvSpPr>
          <p:cNvPr id="6" name="Text 4"/>
          <p:cNvSpPr txBox="1"/>
          <p:nvPr/>
        </p:nvSpPr>
        <p:spPr>
          <a:xfrm>
            <a:off x="822960" y="5120640"/>
            <a:ext cx="5120640" cy="731520"/>
          </a:xfrm>
          <a:prstGeom prst="rect">
            <a:avLst/>
          </a:prstGeom>
          <a:noFill/>
          <a:ln/>
        </p:spPr>
        <p:txBody>
          <a:bodyPr wrap="square" lIns="0" tIns="0" rIns="0" bIns="0" rtlCol="0" anchor="t"/>
          <a:lstStyle/>
          <a:p>
            <a:pPr marL="0" indent="0">
              <a:buNone/>
            </a:pPr>
            <a:r>
              <a:rPr lang="en-US" sz="1400" i="1" dirty="0">
                <a:solidFill>
                  <a:srgbClr val="5C6B7A"/>
                </a:solidFill>
                <a:latin typeface="Calibri" pitchFamily="34" charset="0"/>
                <a:ea typeface="Calibri" pitchFamily="34" charset="-122"/>
                <a:cs typeface="Calibri" pitchFamily="34" charset="-120"/>
              </a:rPr>
              <a:t>Selected industry: Climate &amp; Environmental Analytics</a:t>
            </a:r>
            <a:endParaRPr lang="en-US" sz="1400" dirty="0"/>
          </a:p>
        </p:txBody>
      </p:sp>
      <p:sp>
        <p:nvSpPr>
          <p:cNvPr id="7" name="Text 5"/>
          <p:cNvSpPr txBox="1"/>
          <p:nvPr/>
        </p:nvSpPr>
        <p:spPr>
          <a:xfrm>
            <a:off x="6583680" y="1371600"/>
            <a:ext cx="5029200" cy="365760"/>
          </a:xfrm>
          <a:prstGeom prst="rect">
            <a:avLst/>
          </a:prstGeom>
          <a:noFill/>
          <a:ln/>
        </p:spPr>
        <p:txBody>
          <a:bodyPr wrap="square" lIns="0" tIns="0" rIns="0" bIns="0" rtlCol="0" anchor="t"/>
          <a:lstStyle/>
          <a:p>
            <a:pPr marL="0" indent="0">
              <a:buNone/>
            </a:pPr>
            <a:r>
              <a:rPr lang="en-US" sz="2000" b="1" dirty="0">
                <a:solidFill>
                  <a:srgbClr val="14213D"/>
                </a:solidFill>
                <a:latin typeface="Cambria" pitchFamily="34" charset="0"/>
                <a:ea typeface="Cambria" pitchFamily="34" charset="-122"/>
                <a:cs typeface="Cambria" pitchFamily="34" charset="-120"/>
              </a:rPr>
              <a:t>Why data analysis matters</a:t>
            </a:r>
            <a:endParaRPr lang="en-US" sz="2000" dirty="0"/>
          </a:p>
        </p:txBody>
      </p:sp>
      <p:sp>
        <p:nvSpPr>
          <p:cNvPr id="8" name="Shape 6"/>
          <p:cNvSpPr/>
          <p:nvPr/>
        </p:nvSpPr>
        <p:spPr>
          <a:xfrm>
            <a:off x="6583680" y="2011680"/>
            <a:ext cx="5029200" cy="1143000"/>
          </a:xfrm>
          <a:prstGeom prst="roundRect">
            <a:avLst>
              <a:gd name="adj" fmla="val 9600"/>
            </a:avLst>
          </a:prstGeom>
          <a:solidFill>
            <a:srgbClr val="EEF2F6"/>
          </a:solidFill>
          <a:ln w="12700">
            <a:solidFill>
              <a:srgbClr val="EEF2F6"/>
            </a:solidFill>
            <a:prstDash val="solid"/>
          </a:ln>
        </p:spPr>
      </p:sp>
      <p:sp>
        <p:nvSpPr>
          <p:cNvPr id="9" name="Shape 7"/>
          <p:cNvSpPr/>
          <p:nvPr/>
        </p:nvSpPr>
        <p:spPr>
          <a:xfrm>
            <a:off x="6766560" y="2350008"/>
            <a:ext cx="457200" cy="457200"/>
          </a:xfrm>
          <a:prstGeom prst="ellipse">
            <a:avLst/>
          </a:prstGeom>
          <a:solidFill>
            <a:srgbClr val="E4572E"/>
          </a:solidFill>
          <a:ln w="12700">
            <a:solidFill>
              <a:srgbClr val="E4572E"/>
            </a:solidFill>
            <a:prstDash val="solid"/>
          </a:ln>
        </p:spPr>
      </p:sp>
      <p:sp>
        <p:nvSpPr>
          <p:cNvPr id="10" name="Text 8"/>
          <p:cNvSpPr txBox="1"/>
          <p:nvPr/>
        </p:nvSpPr>
        <p:spPr>
          <a:xfrm>
            <a:off x="6766560" y="23500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Text 9"/>
          <p:cNvSpPr txBox="1"/>
          <p:nvPr/>
        </p:nvSpPr>
        <p:spPr>
          <a:xfrm>
            <a:off x="7406640" y="2176272"/>
            <a:ext cx="4023360" cy="320040"/>
          </a:xfrm>
          <a:prstGeom prst="rect">
            <a:avLst/>
          </a:prstGeom>
          <a:noFill/>
          <a:ln/>
        </p:spPr>
        <p:txBody>
          <a:bodyPr wrap="square" lIns="0" tIns="0" rIns="0" bIns="0" rtlCol="0" anchor="t"/>
          <a:lstStyle/>
          <a:p>
            <a:pPr marL="0" indent="0">
              <a:buNone/>
            </a:pPr>
            <a:r>
              <a:rPr lang="en-US" sz="1700" b="1" dirty="0">
                <a:solidFill>
                  <a:srgbClr val="14213D"/>
                </a:solidFill>
                <a:latin typeface="Calibri" pitchFamily="34" charset="0"/>
                <a:ea typeface="Calibri" pitchFamily="34" charset="-122"/>
                <a:cs typeface="Calibri" pitchFamily="34" charset="-120"/>
              </a:rPr>
              <a:t>Monitor</a:t>
            </a:r>
            <a:endParaRPr lang="en-US" sz="1700" dirty="0"/>
          </a:p>
        </p:txBody>
      </p:sp>
      <p:sp>
        <p:nvSpPr>
          <p:cNvPr id="12" name="Text 10"/>
          <p:cNvSpPr txBox="1"/>
          <p:nvPr/>
        </p:nvSpPr>
        <p:spPr>
          <a:xfrm>
            <a:off x="7406640" y="2542032"/>
            <a:ext cx="4023360" cy="548640"/>
          </a:xfrm>
          <a:prstGeom prst="rect">
            <a:avLst/>
          </a:prstGeom>
          <a:noFill/>
          <a:ln/>
        </p:spPr>
        <p:txBody>
          <a:bodyPr wrap="square" lIns="0" tIns="0" rIns="0" bIns="0" rtlCol="0" anchor="t"/>
          <a:lstStyle/>
          <a:p>
            <a:pPr marL="0" indent="0">
              <a:buNone/>
            </a:pPr>
            <a:r>
              <a:rPr lang="en-US" sz="1400" dirty="0">
                <a:solidFill>
                  <a:srgbClr val="22303C"/>
                </a:solidFill>
                <a:latin typeface="Calibri" pitchFamily="34" charset="0"/>
                <a:ea typeface="Calibri" pitchFamily="34" charset="-122"/>
                <a:cs typeface="Calibri" pitchFamily="34" charset="-120"/>
              </a:rPr>
              <a:t>Track temperature, humidity and extremes over time.</a:t>
            </a:r>
            <a:endParaRPr lang="en-US" sz="1400" dirty="0"/>
          </a:p>
        </p:txBody>
      </p:sp>
      <p:sp>
        <p:nvSpPr>
          <p:cNvPr id="13" name="Shape 11"/>
          <p:cNvSpPr/>
          <p:nvPr/>
        </p:nvSpPr>
        <p:spPr>
          <a:xfrm>
            <a:off x="6583680" y="3383280"/>
            <a:ext cx="5029200" cy="1143000"/>
          </a:xfrm>
          <a:prstGeom prst="roundRect">
            <a:avLst>
              <a:gd name="adj" fmla="val 9600"/>
            </a:avLst>
          </a:prstGeom>
          <a:solidFill>
            <a:srgbClr val="EEF2F6"/>
          </a:solidFill>
          <a:ln w="12700">
            <a:solidFill>
              <a:srgbClr val="EEF2F6"/>
            </a:solidFill>
            <a:prstDash val="solid"/>
          </a:ln>
        </p:spPr>
      </p:sp>
      <p:sp>
        <p:nvSpPr>
          <p:cNvPr id="14" name="Shape 12"/>
          <p:cNvSpPr/>
          <p:nvPr/>
        </p:nvSpPr>
        <p:spPr>
          <a:xfrm>
            <a:off x="6766560" y="3721608"/>
            <a:ext cx="457200" cy="457200"/>
          </a:xfrm>
          <a:prstGeom prst="ellipse">
            <a:avLst/>
          </a:prstGeom>
          <a:solidFill>
            <a:srgbClr val="E4572E"/>
          </a:solidFill>
          <a:ln w="12700">
            <a:solidFill>
              <a:srgbClr val="E4572E"/>
            </a:solidFill>
            <a:prstDash val="solid"/>
          </a:ln>
        </p:spPr>
      </p:sp>
      <p:sp>
        <p:nvSpPr>
          <p:cNvPr id="15" name="Text 13"/>
          <p:cNvSpPr txBox="1"/>
          <p:nvPr/>
        </p:nvSpPr>
        <p:spPr>
          <a:xfrm>
            <a:off x="6766560" y="37216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14"/>
          <p:cNvSpPr txBox="1"/>
          <p:nvPr/>
        </p:nvSpPr>
        <p:spPr>
          <a:xfrm>
            <a:off x="7406640" y="3547872"/>
            <a:ext cx="4023360" cy="320040"/>
          </a:xfrm>
          <a:prstGeom prst="rect">
            <a:avLst/>
          </a:prstGeom>
          <a:noFill/>
          <a:ln/>
        </p:spPr>
        <p:txBody>
          <a:bodyPr wrap="square" lIns="0" tIns="0" rIns="0" bIns="0" rtlCol="0" anchor="t"/>
          <a:lstStyle/>
          <a:p>
            <a:pPr marL="0" indent="0">
              <a:buNone/>
            </a:pPr>
            <a:r>
              <a:rPr lang="en-US" sz="1700" b="1" dirty="0">
                <a:solidFill>
                  <a:srgbClr val="14213D"/>
                </a:solidFill>
                <a:latin typeface="Calibri" pitchFamily="34" charset="0"/>
                <a:ea typeface="Calibri" pitchFamily="34" charset="-122"/>
                <a:cs typeface="Calibri" pitchFamily="34" charset="-120"/>
              </a:rPr>
              <a:t>Assess risk</a:t>
            </a:r>
            <a:endParaRPr lang="en-US" sz="1700" dirty="0"/>
          </a:p>
        </p:txBody>
      </p:sp>
      <p:sp>
        <p:nvSpPr>
          <p:cNvPr id="17" name="Text 15"/>
          <p:cNvSpPr txBox="1"/>
          <p:nvPr/>
        </p:nvSpPr>
        <p:spPr>
          <a:xfrm>
            <a:off x="7406640" y="3913632"/>
            <a:ext cx="4023360" cy="548640"/>
          </a:xfrm>
          <a:prstGeom prst="rect">
            <a:avLst/>
          </a:prstGeom>
          <a:noFill/>
          <a:ln/>
        </p:spPr>
        <p:txBody>
          <a:bodyPr wrap="square" lIns="0" tIns="0" rIns="0" bIns="0" rtlCol="0" anchor="t"/>
          <a:lstStyle/>
          <a:p>
            <a:pPr marL="0" indent="0">
              <a:buNone/>
            </a:pPr>
            <a:r>
              <a:rPr lang="en-US" sz="1400" dirty="0">
                <a:solidFill>
                  <a:srgbClr val="22303C"/>
                </a:solidFill>
                <a:latin typeface="Calibri" pitchFamily="34" charset="0"/>
                <a:ea typeface="Calibri" pitchFamily="34" charset="-122"/>
                <a:cs typeface="Calibri" pitchFamily="34" charset="-120"/>
              </a:rPr>
              <a:t>Turn raw weather data into risk levels people can act on.</a:t>
            </a:r>
            <a:endParaRPr lang="en-US" sz="1400" dirty="0"/>
          </a:p>
        </p:txBody>
      </p:sp>
      <p:sp>
        <p:nvSpPr>
          <p:cNvPr id="18" name="Shape 16"/>
          <p:cNvSpPr/>
          <p:nvPr/>
        </p:nvSpPr>
        <p:spPr>
          <a:xfrm>
            <a:off x="6583680" y="4754880"/>
            <a:ext cx="5029200" cy="1143000"/>
          </a:xfrm>
          <a:prstGeom prst="roundRect">
            <a:avLst>
              <a:gd name="adj" fmla="val 9600"/>
            </a:avLst>
          </a:prstGeom>
          <a:solidFill>
            <a:srgbClr val="EEF2F6"/>
          </a:solidFill>
          <a:ln w="12700">
            <a:solidFill>
              <a:srgbClr val="EEF2F6"/>
            </a:solidFill>
            <a:prstDash val="solid"/>
          </a:ln>
        </p:spPr>
      </p:sp>
      <p:sp>
        <p:nvSpPr>
          <p:cNvPr id="19" name="Shape 17"/>
          <p:cNvSpPr/>
          <p:nvPr/>
        </p:nvSpPr>
        <p:spPr>
          <a:xfrm>
            <a:off x="6766560" y="5093208"/>
            <a:ext cx="457200" cy="457200"/>
          </a:xfrm>
          <a:prstGeom prst="ellipse">
            <a:avLst/>
          </a:prstGeom>
          <a:solidFill>
            <a:srgbClr val="E4572E"/>
          </a:solidFill>
          <a:ln w="12700">
            <a:solidFill>
              <a:srgbClr val="E4572E"/>
            </a:solidFill>
            <a:prstDash val="solid"/>
          </a:ln>
        </p:spPr>
      </p:sp>
      <p:sp>
        <p:nvSpPr>
          <p:cNvPr id="20" name="Text 18"/>
          <p:cNvSpPr txBox="1"/>
          <p:nvPr/>
        </p:nvSpPr>
        <p:spPr>
          <a:xfrm>
            <a:off x="6766560" y="50932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txBox="1"/>
          <p:nvPr/>
        </p:nvSpPr>
        <p:spPr>
          <a:xfrm>
            <a:off x="7406640" y="4919472"/>
            <a:ext cx="4023360" cy="320040"/>
          </a:xfrm>
          <a:prstGeom prst="rect">
            <a:avLst/>
          </a:prstGeom>
          <a:noFill/>
          <a:ln/>
        </p:spPr>
        <p:txBody>
          <a:bodyPr wrap="square" lIns="0" tIns="0" rIns="0" bIns="0" rtlCol="0" anchor="t"/>
          <a:lstStyle/>
          <a:p>
            <a:pPr marL="0" indent="0">
              <a:buNone/>
            </a:pPr>
            <a:r>
              <a:rPr lang="en-US" sz="1700" b="1" dirty="0">
                <a:solidFill>
                  <a:srgbClr val="14213D"/>
                </a:solidFill>
                <a:latin typeface="Calibri" pitchFamily="34" charset="0"/>
                <a:ea typeface="Calibri" pitchFamily="34" charset="-122"/>
                <a:cs typeface="Calibri" pitchFamily="34" charset="-120"/>
              </a:rPr>
              <a:t>Plan</a:t>
            </a:r>
            <a:endParaRPr lang="en-US" sz="1700" dirty="0"/>
          </a:p>
        </p:txBody>
      </p:sp>
      <p:sp>
        <p:nvSpPr>
          <p:cNvPr id="22" name="Text 20"/>
          <p:cNvSpPr txBox="1"/>
          <p:nvPr/>
        </p:nvSpPr>
        <p:spPr>
          <a:xfrm>
            <a:off x="7406640" y="5285232"/>
            <a:ext cx="4023360" cy="548640"/>
          </a:xfrm>
          <a:prstGeom prst="rect">
            <a:avLst/>
          </a:prstGeom>
          <a:noFill/>
          <a:ln/>
        </p:spPr>
        <p:txBody>
          <a:bodyPr wrap="square" lIns="0" tIns="0" rIns="0" bIns="0" rtlCol="0" anchor="t"/>
          <a:lstStyle/>
          <a:p>
            <a:pPr marL="0" indent="0">
              <a:buNone/>
            </a:pPr>
            <a:r>
              <a:rPr lang="en-US" sz="1400" dirty="0">
                <a:solidFill>
                  <a:srgbClr val="22303C"/>
                </a:solidFill>
                <a:latin typeface="Calibri" pitchFamily="34" charset="0"/>
                <a:ea typeface="Calibri" pitchFamily="34" charset="-122"/>
                <a:cs typeface="Calibri" pitchFamily="34" charset="-120"/>
              </a:rPr>
              <a:t>Guide heat-action plans, public alerts and urban design.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marL="0" indent="0">
              <a:buNone/>
            </a:pPr>
            <a:r>
              <a:rPr lang="en-US" sz="3400" b="1" dirty="0">
                <a:solidFill>
                  <a:srgbClr val="14213D"/>
                </a:solidFill>
                <a:latin typeface="Cambria" pitchFamily="34" charset="0"/>
                <a:ea typeface="Cambria" pitchFamily="34" charset="-122"/>
                <a:cs typeface="Cambria" pitchFamily="34" charset="-120"/>
              </a:rPr>
              <a:t>Problem Statement</a:t>
            </a:r>
            <a:endParaRPr lang="en-US" sz="3400" dirty="0"/>
          </a:p>
        </p:txBody>
      </p:sp>
      <p:sp>
        <p:nvSpPr>
          <p:cNvPr id="3" name="Shape 1"/>
          <p:cNvSpPr/>
          <p:nvPr/>
        </p:nvSpPr>
        <p:spPr>
          <a:xfrm>
            <a:off x="548640" y="1463040"/>
            <a:ext cx="3474720" cy="4480560"/>
          </a:xfrm>
          <a:prstGeom prst="roundRect">
            <a:avLst>
              <a:gd name="adj" fmla="val 3158"/>
            </a:avLst>
          </a:prstGeom>
          <a:solidFill>
            <a:srgbClr val="EEF2F6"/>
          </a:solidFill>
          <a:ln w="12700">
            <a:solidFill>
              <a:srgbClr val="EEF2F6"/>
            </a:solidFill>
            <a:prstDash val="solid"/>
          </a:ln>
        </p:spPr>
      </p:sp>
      <p:sp>
        <p:nvSpPr>
          <p:cNvPr id="4" name="Shape 2"/>
          <p:cNvSpPr/>
          <p:nvPr/>
        </p:nvSpPr>
        <p:spPr>
          <a:xfrm>
            <a:off x="822960" y="1737360"/>
            <a:ext cx="548640" cy="548640"/>
          </a:xfrm>
          <a:prstGeom prst="ellipse">
            <a:avLst/>
          </a:prstGeom>
          <a:solidFill>
            <a:srgbClr val="E4572E"/>
          </a:solidFill>
          <a:ln w="12700">
            <a:solidFill>
              <a:srgbClr val="E4572E"/>
            </a:solidFill>
            <a:prstDash val="solid"/>
          </a:ln>
        </p:spPr>
      </p:sp>
      <p:sp>
        <p:nvSpPr>
          <p:cNvPr id="5" name="Text 3"/>
          <p:cNvSpPr txBox="1"/>
          <p:nvPr/>
        </p:nvSpPr>
        <p:spPr>
          <a:xfrm>
            <a:off x="822960" y="173736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822960" y="2560320"/>
            <a:ext cx="3017520" cy="365760"/>
          </a:xfrm>
          <a:prstGeom prst="rect">
            <a:avLst/>
          </a:prstGeom>
          <a:noFill/>
          <a:ln/>
        </p:spPr>
        <p:txBody>
          <a:bodyPr wrap="square" lIns="0" tIns="0" rIns="0" bIns="0" rtlCol="0" anchor="t"/>
          <a:lstStyle/>
          <a:p>
            <a:pPr marL="0" indent="0">
              <a:buNone/>
            </a:pPr>
            <a:r>
              <a:rPr lang="en-US" sz="2000" b="1" dirty="0">
                <a:solidFill>
                  <a:srgbClr val="14213D"/>
                </a:solidFill>
                <a:latin typeface="Cambria" pitchFamily="34" charset="0"/>
                <a:ea typeface="Cambria" pitchFamily="34" charset="-122"/>
                <a:cs typeface="Cambria" pitchFamily="34" charset="-120"/>
              </a:rPr>
              <a:t>The problem</a:t>
            </a:r>
            <a:endParaRPr lang="en-US" sz="2000" dirty="0"/>
          </a:p>
        </p:txBody>
      </p:sp>
      <p:sp>
        <p:nvSpPr>
          <p:cNvPr id="7" name="Text 5"/>
          <p:cNvSpPr txBox="1"/>
          <p:nvPr/>
        </p:nvSpPr>
        <p:spPr>
          <a:xfrm>
            <a:off x="822960" y="3108960"/>
            <a:ext cx="2971800" cy="2743200"/>
          </a:xfrm>
          <a:prstGeom prst="rect">
            <a:avLst/>
          </a:prstGeom>
          <a:noFill/>
          <a:ln/>
        </p:spPr>
        <p:txBody>
          <a:bodyPr wrap="square" lIns="0" tIns="0" rIns="0" bIns="0" rtlCol="0" anchor="t"/>
          <a:lstStyle/>
          <a:p>
            <a:pPr marL="0" indent="0">
              <a:buNone/>
            </a:pPr>
            <a:r>
              <a:rPr lang="en-US" sz="1600" dirty="0">
                <a:solidFill>
                  <a:srgbClr val="22303C"/>
                </a:solidFill>
                <a:latin typeface="Calibri" pitchFamily="34" charset="0"/>
                <a:ea typeface="Calibri" pitchFamily="34" charset="-122"/>
                <a:cs typeface="Calibri" pitchFamily="34" charset="-120"/>
              </a:rPr>
              <a:t>Heat risk is usually judged by air temperature alone. Humidity limits sweat evaporation, so equally hot days can be far more dangerous in humid cities.</a:t>
            </a:r>
            <a:endParaRPr lang="en-US" sz="1600" dirty="0"/>
          </a:p>
        </p:txBody>
      </p:sp>
      <p:sp>
        <p:nvSpPr>
          <p:cNvPr id="8" name="Shape 6"/>
          <p:cNvSpPr/>
          <p:nvPr/>
        </p:nvSpPr>
        <p:spPr>
          <a:xfrm>
            <a:off x="4343400" y="1463040"/>
            <a:ext cx="3474720" cy="4480560"/>
          </a:xfrm>
          <a:prstGeom prst="roundRect">
            <a:avLst>
              <a:gd name="adj" fmla="val 3158"/>
            </a:avLst>
          </a:prstGeom>
          <a:solidFill>
            <a:srgbClr val="EEF2F6"/>
          </a:solidFill>
          <a:ln w="12700">
            <a:solidFill>
              <a:srgbClr val="EEF2F6"/>
            </a:solidFill>
            <a:prstDash val="solid"/>
          </a:ln>
        </p:spPr>
      </p:sp>
      <p:sp>
        <p:nvSpPr>
          <p:cNvPr id="9" name="Shape 7"/>
          <p:cNvSpPr/>
          <p:nvPr/>
        </p:nvSpPr>
        <p:spPr>
          <a:xfrm>
            <a:off x="4617720" y="1737360"/>
            <a:ext cx="548640" cy="548640"/>
          </a:xfrm>
          <a:prstGeom prst="ellipse">
            <a:avLst/>
          </a:prstGeom>
          <a:solidFill>
            <a:srgbClr val="E4572E"/>
          </a:solidFill>
          <a:ln w="12700">
            <a:solidFill>
              <a:srgbClr val="E4572E"/>
            </a:solidFill>
            <a:prstDash val="solid"/>
          </a:ln>
        </p:spPr>
      </p:sp>
      <p:sp>
        <p:nvSpPr>
          <p:cNvPr id="10" name="Text 8"/>
          <p:cNvSpPr txBox="1"/>
          <p:nvPr/>
        </p:nvSpPr>
        <p:spPr>
          <a:xfrm>
            <a:off x="4617720" y="173736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4617720" y="2560320"/>
            <a:ext cx="3017520" cy="365760"/>
          </a:xfrm>
          <a:prstGeom prst="rect">
            <a:avLst/>
          </a:prstGeom>
          <a:noFill/>
          <a:ln/>
        </p:spPr>
        <p:txBody>
          <a:bodyPr wrap="square" lIns="0" tIns="0" rIns="0" bIns="0" rtlCol="0" anchor="t"/>
          <a:lstStyle/>
          <a:p>
            <a:pPr marL="0" indent="0">
              <a:buNone/>
            </a:pPr>
            <a:r>
              <a:rPr lang="en-US" sz="2000" b="1" dirty="0">
                <a:solidFill>
                  <a:srgbClr val="14213D"/>
                </a:solidFill>
                <a:latin typeface="Cambria" pitchFamily="34" charset="0"/>
                <a:ea typeface="Cambria" pitchFamily="34" charset="-122"/>
                <a:cs typeface="Cambria" pitchFamily="34" charset="-120"/>
              </a:rPr>
              <a:t>Why it matters</a:t>
            </a:r>
            <a:endParaRPr lang="en-US" sz="2000" dirty="0"/>
          </a:p>
        </p:txBody>
      </p:sp>
      <p:sp>
        <p:nvSpPr>
          <p:cNvPr id="12" name="Text 10"/>
          <p:cNvSpPr txBox="1"/>
          <p:nvPr/>
        </p:nvSpPr>
        <p:spPr>
          <a:xfrm>
            <a:off x="4617720" y="3108960"/>
            <a:ext cx="2971800" cy="2743200"/>
          </a:xfrm>
          <a:prstGeom prst="rect">
            <a:avLst/>
          </a:prstGeom>
          <a:noFill/>
          <a:ln/>
        </p:spPr>
        <p:txBody>
          <a:bodyPr wrap="square" lIns="0" tIns="0" rIns="0" bIns="0" rtlCol="0" anchor="t"/>
          <a:lstStyle/>
          <a:p>
            <a:pPr marL="0" indent="0">
              <a:buNone/>
            </a:pPr>
            <a:r>
              <a:rPr lang="en-US" sz="1600" dirty="0">
                <a:solidFill>
                  <a:srgbClr val="22303C"/>
                </a:solidFill>
                <a:latin typeface="Calibri" pitchFamily="34" charset="0"/>
                <a:ea typeface="Calibri" pitchFamily="34" charset="-122"/>
                <a:cs typeface="Calibri" pitchFamily="34" charset="-120"/>
              </a:rPr>
              <a:t>A temperature-only view can misrank cities and misdirect heat alerts, preparedness and public-health resources.</a:t>
            </a:r>
            <a:endParaRPr lang="en-US" sz="1600" dirty="0"/>
          </a:p>
        </p:txBody>
      </p:sp>
      <p:sp>
        <p:nvSpPr>
          <p:cNvPr id="13" name="Shape 11"/>
          <p:cNvSpPr/>
          <p:nvPr/>
        </p:nvSpPr>
        <p:spPr>
          <a:xfrm>
            <a:off x="8138160" y="1463040"/>
            <a:ext cx="3474720" cy="4480560"/>
          </a:xfrm>
          <a:prstGeom prst="roundRect">
            <a:avLst>
              <a:gd name="adj" fmla="val 3158"/>
            </a:avLst>
          </a:prstGeom>
          <a:solidFill>
            <a:srgbClr val="EEF2F6"/>
          </a:solidFill>
          <a:ln w="12700">
            <a:solidFill>
              <a:srgbClr val="EEF2F6"/>
            </a:solidFill>
            <a:prstDash val="solid"/>
          </a:ln>
        </p:spPr>
      </p:sp>
      <p:sp>
        <p:nvSpPr>
          <p:cNvPr id="14" name="Shape 12"/>
          <p:cNvSpPr/>
          <p:nvPr/>
        </p:nvSpPr>
        <p:spPr>
          <a:xfrm>
            <a:off x="8412480" y="1737360"/>
            <a:ext cx="548640" cy="548640"/>
          </a:xfrm>
          <a:prstGeom prst="ellipse">
            <a:avLst/>
          </a:prstGeom>
          <a:solidFill>
            <a:srgbClr val="E4572E"/>
          </a:solidFill>
          <a:ln w="12700">
            <a:solidFill>
              <a:srgbClr val="E4572E"/>
            </a:solidFill>
            <a:prstDash val="solid"/>
          </a:ln>
        </p:spPr>
      </p:sp>
      <p:sp>
        <p:nvSpPr>
          <p:cNvPr id="15" name="Text 13"/>
          <p:cNvSpPr txBox="1"/>
          <p:nvPr/>
        </p:nvSpPr>
        <p:spPr>
          <a:xfrm>
            <a:off x="8412480" y="173736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8412480" y="2560320"/>
            <a:ext cx="3017520" cy="365760"/>
          </a:xfrm>
          <a:prstGeom prst="rect">
            <a:avLst/>
          </a:prstGeom>
          <a:noFill/>
          <a:ln/>
        </p:spPr>
        <p:txBody>
          <a:bodyPr wrap="square" lIns="0" tIns="0" rIns="0" bIns="0" rtlCol="0" anchor="t"/>
          <a:lstStyle/>
          <a:p>
            <a:pPr marL="0" indent="0">
              <a:buNone/>
            </a:pPr>
            <a:r>
              <a:rPr lang="en-US" sz="2000" b="1" dirty="0">
                <a:solidFill>
                  <a:srgbClr val="14213D"/>
                </a:solidFill>
                <a:latin typeface="Cambria" pitchFamily="34" charset="0"/>
                <a:ea typeface="Cambria" pitchFamily="34" charset="-122"/>
                <a:cs typeface="Cambria" pitchFamily="34" charset="-120"/>
              </a:rPr>
              <a:t>Who is affected</a:t>
            </a:r>
            <a:endParaRPr lang="en-US" sz="2000" dirty="0"/>
          </a:p>
        </p:txBody>
      </p:sp>
      <p:sp>
        <p:nvSpPr>
          <p:cNvPr id="17" name="Text 15"/>
          <p:cNvSpPr txBox="1"/>
          <p:nvPr/>
        </p:nvSpPr>
        <p:spPr>
          <a:xfrm>
            <a:off x="8412480" y="3108960"/>
            <a:ext cx="2971800" cy="2743200"/>
          </a:xfrm>
          <a:prstGeom prst="rect">
            <a:avLst/>
          </a:prstGeom>
          <a:noFill/>
          <a:ln/>
        </p:spPr>
        <p:txBody>
          <a:bodyPr wrap="square" lIns="0" tIns="0" rIns="0" bIns="0" rtlCol="0" anchor="t"/>
          <a:lstStyle/>
          <a:p>
            <a:pPr marL="0" indent="0">
              <a:buNone/>
            </a:pPr>
            <a:r>
              <a:rPr lang="en-US" sz="1600" dirty="0">
                <a:solidFill>
                  <a:srgbClr val="22303C"/>
                </a:solidFill>
                <a:latin typeface="Calibri" pitchFamily="34" charset="0"/>
                <a:ea typeface="Calibri" pitchFamily="34" charset="-122"/>
                <a:cs typeface="Calibri" pitchFamily="34" charset="-120"/>
              </a:rPr>
              <a:t>City residents, especially outdoor workers, the elderly and children, along with city planners and health authorities.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marL="0" indent="0">
              <a:buNone/>
            </a:pPr>
            <a:r>
              <a:rPr lang="en-US" sz="3400" b="1" dirty="0">
                <a:solidFill>
                  <a:srgbClr val="14213D"/>
                </a:solidFill>
                <a:latin typeface="Cambria" pitchFamily="34" charset="0"/>
                <a:ea typeface="Cambria" pitchFamily="34" charset="-122"/>
                <a:cs typeface="Cambria" pitchFamily="34" charset="-120"/>
              </a:rPr>
              <a:t>Project Objectives</a:t>
            </a:r>
            <a:endParaRPr lang="en-US" sz="3400" dirty="0"/>
          </a:p>
        </p:txBody>
      </p:sp>
      <p:sp>
        <p:nvSpPr>
          <p:cNvPr id="3" name="Shape 1"/>
          <p:cNvSpPr/>
          <p:nvPr/>
        </p:nvSpPr>
        <p:spPr>
          <a:xfrm>
            <a:off x="548640" y="1371600"/>
            <a:ext cx="11064240" cy="822960"/>
          </a:xfrm>
          <a:prstGeom prst="roundRect">
            <a:avLst>
              <a:gd name="adj" fmla="val 13333"/>
            </a:avLst>
          </a:prstGeom>
          <a:solidFill>
            <a:srgbClr val="EEF2F6"/>
          </a:solidFill>
          <a:ln w="12700">
            <a:solidFill>
              <a:srgbClr val="EEF2F6"/>
            </a:solidFill>
            <a:prstDash val="solid"/>
          </a:ln>
        </p:spPr>
      </p:sp>
      <p:sp>
        <p:nvSpPr>
          <p:cNvPr id="4" name="Shape 2"/>
          <p:cNvSpPr/>
          <p:nvPr/>
        </p:nvSpPr>
        <p:spPr>
          <a:xfrm>
            <a:off x="777240" y="1554480"/>
            <a:ext cx="457200" cy="457200"/>
          </a:xfrm>
          <a:prstGeom prst="ellipse">
            <a:avLst/>
          </a:prstGeom>
          <a:solidFill>
            <a:srgbClr val="E4572E"/>
          </a:solidFill>
          <a:ln w="12700">
            <a:solidFill>
              <a:srgbClr val="E4572E"/>
            </a:solidFill>
            <a:prstDash val="solid"/>
          </a:ln>
        </p:spPr>
      </p:sp>
      <p:sp>
        <p:nvSpPr>
          <p:cNvPr id="5" name="Text 3"/>
          <p:cNvSpPr txBox="1"/>
          <p:nvPr/>
        </p:nvSpPr>
        <p:spPr>
          <a:xfrm>
            <a:off x="777240" y="15544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600200" y="1371600"/>
            <a:ext cx="9784080" cy="822960"/>
          </a:xfrm>
          <a:prstGeom prst="rect">
            <a:avLst/>
          </a:prstGeom>
          <a:noFill/>
          <a:ln/>
        </p:spPr>
        <p:txBody>
          <a:bodyPr wrap="square" lIns="0" tIns="0" rIns="0" bIns="0" rtlCol="0" anchor="ctr"/>
          <a:lstStyle/>
          <a:p>
            <a:pPr marL="0" indent="0">
              <a:buNone/>
            </a:pPr>
            <a:r>
              <a:rPr lang="en-US" sz="1800" dirty="0">
                <a:solidFill>
                  <a:srgbClr val="22303C"/>
                </a:solidFill>
                <a:latin typeface="Calibri" pitchFamily="34" charset="0"/>
                <a:ea typeface="Calibri" pitchFamily="34" charset="-122"/>
                <a:cs typeface="Calibri" pitchFamily="34" charset="-120"/>
              </a:rPr>
              <a:t>Compute the daily NWS Heat Index from temperature and humidity.</a:t>
            </a:r>
            <a:endParaRPr lang="en-US" sz="1800" dirty="0"/>
          </a:p>
        </p:txBody>
      </p:sp>
      <p:sp>
        <p:nvSpPr>
          <p:cNvPr id="7" name="Shape 5"/>
          <p:cNvSpPr/>
          <p:nvPr/>
        </p:nvSpPr>
        <p:spPr>
          <a:xfrm>
            <a:off x="548640" y="2331720"/>
            <a:ext cx="11064240" cy="822960"/>
          </a:xfrm>
          <a:prstGeom prst="roundRect">
            <a:avLst>
              <a:gd name="adj" fmla="val 13333"/>
            </a:avLst>
          </a:prstGeom>
          <a:solidFill>
            <a:srgbClr val="EEF2F6"/>
          </a:solidFill>
          <a:ln w="12700">
            <a:solidFill>
              <a:srgbClr val="EEF2F6"/>
            </a:solidFill>
            <a:prstDash val="solid"/>
          </a:ln>
        </p:spPr>
      </p:sp>
      <p:sp>
        <p:nvSpPr>
          <p:cNvPr id="8" name="Shape 6"/>
          <p:cNvSpPr/>
          <p:nvPr/>
        </p:nvSpPr>
        <p:spPr>
          <a:xfrm>
            <a:off x="777240" y="2514600"/>
            <a:ext cx="457200" cy="457200"/>
          </a:xfrm>
          <a:prstGeom prst="ellipse">
            <a:avLst/>
          </a:prstGeom>
          <a:solidFill>
            <a:srgbClr val="E4572E"/>
          </a:solidFill>
          <a:ln w="12700">
            <a:solidFill>
              <a:srgbClr val="E4572E"/>
            </a:solidFill>
            <a:prstDash val="solid"/>
          </a:ln>
        </p:spPr>
      </p:sp>
      <p:sp>
        <p:nvSpPr>
          <p:cNvPr id="9" name="Text 7"/>
          <p:cNvSpPr txBox="1"/>
          <p:nvPr/>
        </p:nvSpPr>
        <p:spPr>
          <a:xfrm>
            <a:off x="777240" y="25146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600200" y="2331720"/>
            <a:ext cx="9784080" cy="822960"/>
          </a:xfrm>
          <a:prstGeom prst="rect">
            <a:avLst/>
          </a:prstGeom>
          <a:noFill/>
          <a:ln/>
        </p:spPr>
        <p:txBody>
          <a:bodyPr wrap="square" lIns="0" tIns="0" rIns="0" bIns="0" rtlCol="0" anchor="ctr"/>
          <a:lstStyle/>
          <a:p>
            <a:pPr marL="0" indent="0">
              <a:buNone/>
            </a:pPr>
            <a:r>
              <a:rPr lang="en-US" sz="1800" dirty="0">
                <a:solidFill>
                  <a:srgbClr val="22303C"/>
                </a:solidFill>
                <a:latin typeface="Calibri" pitchFamily="34" charset="0"/>
                <a:ea typeface="Calibri" pitchFamily="34" charset="-122"/>
                <a:cs typeface="Calibri" pitchFamily="34" charset="-120"/>
              </a:rPr>
              <a:t>Classify every day into risk levels (Safe to Extreme Danger).</a:t>
            </a:r>
            <a:endParaRPr lang="en-US" sz="1800" dirty="0"/>
          </a:p>
        </p:txBody>
      </p:sp>
      <p:sp>
        <p:nvSpPr>
          <p:cNvPr id="11" name="Shape 9"/>
          <p:cNvSpPr/>
          <p:nvPr/>
        </p:nvSpPr>
        <p:spPr>
          <a:xfrm>
            <a:off x="548640" y="3291840"/>
            <a:ext cx="11064240" cy="822960"/>
          </a:xfrm>
          <a:prstGeom prst="roundRect">
            <a:avLst>
              <a:gd name="adj" fmla="val 13333"/>
            </a:avLst>
          </a:prstGeom>
          <a:solidFill>
            <a:srgbClr val="EEF2F6"/>
          </a:solidFill>
          <a:ln w="12700">
            <a:solidFill>
              <a:srgbClr val="EEF2F6"/>
            </a:solidFill>
            <a:prstDash val="solid"/>
          </a:ln>
        </p:spPr>
      </p:sp>
      <p:sp>
        <p:nvSpPr>
          <p:cNvPr id="12" name="Shape 10"/>
          <p:cNvSpPr/>
          <p:nvPr/>
        </p:nvSpPr>
        <p:spPr>
          <a:xfrm>
            <a:off x="777240" y="3474720"/>
            <a:ext cx="457200" cy="457200"/>
          </a:xfrm>
          <a:prstGeom prst="ellipse">
            <a:avLst/>
          </a:prstGeom>
          <a:solidFill>
            <a:srgbClr val="E4572E"/>
          </a:solidFill>
          <a:ln w="12700">
            <a:solidFill>
              <a:srgbClr val="E4572E"/>
            </a:solidFill>
            <a:prstDash val="solid"/>
          </a:ln>
        </p:spPr>
      </p:sp>
      <p:sp>
        <p:nvSpPr>
          <p:cNvPr id="13" name="Text 11"/>
          <p:cNvSpPr txBox="1"/>
          <p:nvPr/>
        </p:nvSpPr>
        <p:spPr>
          <a:xfrm>
            <a:off x="777240" y="34747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600200" y="3291840"/>
            <a:ext cx="9784080" cy="822960"/>
          </a:xfrm>
          <a:prstGeom prst="rect">
            <a:avLst/>
          </a:prstGeom>
          <a:noFill/>
          <a:ln/>
        </p:spPr>
        <p:txBody>
          <a:bodyPr wrap="square" lIns="0" tIns="0" rIns="0" bIns="0" rtlCol="0" anchor="ctr"/>
          <a:lstStyle/>
          <a:p>
            <a:pPr marL="0" indent="0">
              <a:buNone/>
            </a:pPr>
            <a:r>
              <a:rPr lang="en-US" sz="1800" dirty="0">
                <a:solidFill>
                  <a:srgbClr val="22303C"/>
                </a:solidFill>
                <a:latin typeface="Calibri" pitchFamily="34" charset="0"/>
                <a:ea typeface="Calibri" pitchFamily="34" charset="-122"/>
                <a:cs typeface="Calibri" pitchFamily="34" charset="-120"/>
              </a:rPr>
              <a:t>Compare temperature-only hot days with humidity-adjusted Danger days.</a:t>
            </a:r>
            <a:endParaRPr lang="en-US" sz="1800" dirty="0"/>
          </a:p>
        </p:txBody>
      </p:sp>
      <p:sp>
        <p:nvSpPr>
          <p:cNvPr id="15" name="Shape 13"/>
          <p:cNvSpPr/>
          <p:nvPr/>
        </p:nvSpPr>
        <p:spPr>
          <a:xfrm>
            <a:off x="548640" y="4251960"/>
            <a:ext cx="11064240" cy="822960"/>
          </a:xfrm>
          <a:prstGeom prst="roundRect">
            <a:avLst>
              <a:gd name="adj" fmla="val 13333"/>
            </a:avLst>
          </a:prstGeom>
          <a:solidFill>
            <a:srgbClr val="EEF2F6"/>
          </a:solidFill>
          <a:ln w="12700">
            <a:solidFill>
              <a:srgbClr val="EEF2F6"/>
            </a:solidFill>
            <a:prstDash val="solid"/>
          </a:ln>
        </p:spPr>
      </p:sp>
      <p:sp>
        <p:nvSpPr>
          <p:cNvPr id="16" name="Shape 14"/>
          <p:cNvSpPr/>
          <p:nvPr/>
        </p:nvSpPr>
        <p:spPr>
          <a:xfrm>
            <a:off x="777240" y="4434840"/>
            <a:ext cx="457200" cy="457200"/>
          </a:xfrm>
          <a:prstGeom prst="ellipse">
            <a:avLst/>
          </a:prstGeom>
          <a:solidFill>
            <a:srgbClr val="E4572E"/>
          </a:solidFill>
          <a:ln w="12700">
            <a:solidFill>
              <a:srgbClr val="E4572E"/>
            </a:solidFill>
            <a:prstDash val="solid"/>
          </a:ln>
        </p:spPr>
      </p:sp>
      <p:sp>
        <p:nvSpPr>
          <p:cNvPr id="17" name="Text 15"/>
          <p:cNvSpPr txBox="1"/>
          <p:nvPr/>
        </p:nvSpPr>
        <p:spPr>
          <a:xfrm>
            <a:off x="777240" y="4434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1600200" y="4251960"/>
            <a:ext cx="9784080" cy="822960"/>
          </a:xfrm>
          <a:prstGeom prst="rect">
            <a:avLst/>
          </a:prstGeom>
          <a:noFill/>
          <a:ln/>
        </p:spPr>
        <p:txBody>
          <a:bodyPr wrap="square" lIns="0" tIns="0" rIns="0" bIns="0" rtlCol="0" anchor="ctr"/>
          <a:lstStyle/>
          <a:p>
            <a:pPr marL="0" indent="0">
              <a:buNone/>
            </a:pPr>
            <a:r>
              <a:rPr lang="en-US" sz="1800" dirty="0">
                <a:solidFill>
                  <a:srgbClr val="22303C"/>
                </a:solidFill>
                <a:latin typeface="Calibri" pitchFamily="34" charset="0"/>
                <a:ea typeface="Calibri" pitchFamily="34" charset="-122"/>
                <a:cs typeface="Calibri" pitchFamily="34" charset="-120"/>
              </a:rPr>
              <a:t>Identify monthly and seasonal peaks of heat stress.</a:t>
            </a:r>
            <a:endParaRPr lang="en-US" sz="1800" dirty="0"/>
          </a:p>
        </p:txBody>
      </p:sp>
      <p:sp>
        <p:nvSpPr>
          <p:cNvPr id="19" name="Shape 17"/>
          <p:cNvSpPr/>
          <p:nvPr/>
        </p:nvSpPr>
        <p:spPr>
          <a:xfrm>
            <a:off x="548640" y="5212080"/>
            <a:ext cx="11064240" cy="822960"/>
          </a:xfrm>
          <a:prstGeom prst="roundRect">
            <a:avLst>
              <a:gd name="adj" fmla="val 13333"/>
            </a:avLst>
          </a:prstGeom>
          <a:solidFill>
            <a:srgbClr val="EEF2F6"/>
          </a:solidFill>
          <a:ln w="12700">
            <a:solidFill>
              <a:srgbClr val="EEF2F6"/>
            </a:solidFill>
            <a:prstDash val="solid"/>
          </a:ln>
        </p:spPr>
      </p:sp>
      <p:sp>
        <p:nvSpPr>
          <p:cNvPr id="20" name="Shape 18"/>
          <p:cNvSpPr/>
          <p:nvPr/>
        </p:nvSpPr>
        <p:spPr>
          <a:xfrm>
            <a:off x="777240" y="5394960"/>
            <a:ext cx="457200" cy="457200"/>
          </a:xfrm>
          <a:prstGeom prst="ellipse">
            <a:avLst/>
          </a:prstGeom>
          <a:solidFill>
            <a:srgbClr val="E4572E"/>
          </a:solidFill>
          <a:ln w="12700">
            <a:solidFill>
              <a:srgbClr val="E4572E"/>
            </a:solidFill>
            <a:prstDash val="solid"/>
          </a:ln>
        </p:spPr>
      </p:sp>
      <p:sp>
        <p:nvSpPr>
          <p:cNvPr id="21" name="Text 19"/>
          <p:cNvSpPr txBox="1"/>
          <p:nvPr/>
        </p:nvSpPr>
        <p:spPr>
          <a:xfrm>
            <a:off x="777240" y="53949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1600200" y="5212080"/>
            <a:ext cx="9784080" cy="822960"/>
          </a:xfrm>
          <a:prstGeom prst="rect">
            <a:avLst/>
          </a:prstGeom>
          <a:noFill/>
          <a:ln/>
        </p:spPr>
        <p:txBody>
          <a:bodyPr wrap="square" lIns="0" tIns="0" rIns="0" bIns="0" rtlCol="0" anchor="ctr"/>
          <a:lstStyle/>
          <a:p>
            <a:pPr marL="0" indent="0">
              <a:buNone/>
            </a:pPr>
            <a:r>
              <a:rPr lang="en-US" sz="1800" dirty="0">
                <a:solidFill>
                  <a:srgbClr val="22303C"/>
                </a:solidFill>
                <a:latin typeface="Calibri" pitchFamily="34" charset="0"/>
                <a:ea typeface="Calibri" pitchFamily="34" charset="-122"/>
                <a:cs typeface="Calibri" pitchFamily="34" charset="-120"/>
              </a:rPr>
              <a:t>Test 2010–2025 trends and rank cities by Danger-day share.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marL="0" indent="0">
              <a:buNone/>
            </a:pPr>
            <a:r>
              <a:rPr lang="en-US" sz="3400" b="1" dirty="0">
                <a:solidFill>
                  <a:srgbClr val="14213D"/>
                </a:solidFill>
                <a:latin typeface="Cambria" pitchFamily="34" charset="0"/>
                <a:ea typeface="Cambria" pitchFamily="34" charset="-122"/>
                <a:cs typeface="Cambria" pitchFamily="34" charset="-120"/>
              </a:rPr>
              <a:t>Proposed Solution &amp; Analysis Questions</a:t>
            </a:r>
            <a:endParaRPr lang="en-US" sz="3400" dirty="0"/>
          </a:p>
        </p:txBody>
      </p:sp>
      <p:sp>
        <p:nvSpPr>
          <p:cNvPr id="3" name="Shape 1"/>
          <p:cNvSpPr/>
          <p:nvPr/>
        </p:nvSpPr>
        <p:spPr>
          <a:xfrm>
            <a:off x="548640" y="1371600"/>
            <a:ext cx="5303520" cy="4754880"/>
          </a:xfrm>
          <a:prstGeom prst="roundRect">
            <a:avLst>
              <a:gd name="adj" fmla="val 2308"/>
            </a:avLst>
          </a:prstGeom>
          <a:solidFill>
            <a:srgbClr val="EEF2F6"/>
          </a:solidFill>
          <a:ln w="12700">
            <a:solidFill>
              <a:srgbClr val="EEF2F6"/>
            </a:solidFill>
            <a:prstDash val="solid"/>
          </a:ln>
        </p:spPr>
      </p:sp>
      <p:sp>
        <p:nvSpPr>
          <p:cNvPr id="4" name="Text 2"/>
          <p:cNvSpPr txBox="1"/>
          <p:nvPr/>
        </p:nvSpPr>
        <p:spPr>
          <a:xfrm>
            <a:off x="822960" y="1600200"/>
            <a:ext cx="4754880" cy="365760"/>
          </a:xfrm>
          <a:prstGeom prst="rect">
            <a:avLst/>
          </a:prstGeom>
          <a:noFill/>
          <a:ln/>
        </p:spPr>
        <p:txBody>
          <a:bodyPr wrap="square" lIns="0" tIns="0" rIns="0" bIns="0" rtlCol="0" anchor="t"/>
          <a:lstStyle/>
          <a:p>
            <a:pPr marL="0" indent="0">
              <a:buNone/>
            </a:pPr>
            <a:r>
              <a:rPr lang="en-US" sz="2000" b="1" dirty="0">
                <a:solidFill>
                  <a:srgbClr val="14213D"/>
                </a:solidFill>
                <a:latin typeface="Cambria" pitchFamily="34" charset="0"/>
                <a:ea typeface="Cambria" pitchFamily="34" charset="-122"/>
                <a:cs typeface="Cambria" pitchFamily="34" charset="-120"/>
              </a:rPr>
              <a:t>Proposed solution</a:t>
            </a:r>
            <a:endParaRPr lang="en-US" sz="2000" dirty="0"/>
          </a:p>
        </p:txBody>
      </p:sp>
      <p:sp>
        <p:nvSpPr>
          <p:cNvPr id="5" name="Text 3"/>
          <p:cNvSpPr txBox="1"/>
          <p:nvPr/>
        </p:nvSpPr>
        <p:spPr>
          <a:xfrm>
            <a:off x="822960" y="2103120"/>
            <a:ext cx="4754880" cy="1828800"/>
          </a:xfrm>
          <a:prstGeom prst="rect">
            <a:avLst/>
          </a:prstGeom>
          <a:noFill/>
          <a:ln/>
        </p:spPr>
        <p:txBody>
          <a:bodyPr wrap="square" lIns="0" tIns="0" rIns="0" bIns="0" rtlCol="0" anchor="t"/>
          <a:lstStyle/>
          <a:p>
            <a:pPr marL="0" indent="0">
              <a:buNone/>
            </a:pPr>
            <a:r>
              <a:rPr lang="en-US" sz="1500" dirty="0">
                <a:solidFill>
                  <a:srgbClr val="22303C"/>
                </a:solidFill>
                <a:latin typeface="Calibri" pitchFamily="34" charset="0"/>
                <a:ea typeface="Calibri" pitchFamily="34" charset="-122"/>
                <a:cs typeface="Calibri" pitchFamily="34" charset="-120"/>
              </a:rPr>
              <a:t>Compute a humidity-adjusted Heat Index for six climate-diverse Indian cities, classify each day by risk level, and compare it with temperature-only measures to show where heat stress is truly highest.</a:t>
            </a:r>
            <a:endParaRPr lang="en-US" sz="1500" dirty="0"/>
          </a:p>
        </p:txBody>
      </p:sp>
      <p:sp>
        <p:nvSpPr>
          <p:cNvPr id="6" name="Text 4"/>
          <p:cNvSpPr txBox="1"/>
          <p:nvPr/>
        </p:nvSpPr>
        <p:spPr>
          <a:xfrm>
            <a:off x="822960" y="3840480"/>
            <a:ext cx="4754880" cy="365760"/>
          </a:xfrm>
          <a:prstGeom prst="rect">
            <a:avLst/>
          </a:prstGeom>
          <a:noFill/>
          <a:ln/>
        </p:spPr>
        <p:txBody>
          <a:bodyPr wrap="square" lIns="0" tIns="0" rIns="0" bIns="0" rtlCol="0" anchor="t"/>
          <a:lstStyle/>
          <a:p>
            <a:pPr marL="0" indent="0">
              <a:buNone/>
            </a:pPr>
            <a:r>
              <a:rPr lang="en-US" sz="2000" b="1" dirty="0">
                <a:solidFill>
                  <a:srgbClr val="14213D"/>
                </a:solidFill>
                <a:latin typeface="Cambria" pitchFamily="34" charset="0"/>
                <a:ea typeface="Cambria" pitchFamily="34" charset="-122"/>
                <a:cs typeface="Cambria" pitchFamily="34" charset="-120"/>
              </a:rPr>
              <a:t>How Python helps</a:t>
            </a:r>
            <a:endParaRPr lang="en-US" sz="2000" dirty="0"/>
          </a:p>
        </p:txBody>
      </p:sp>
      <p:sp>
        <p:nvSpPr>
          <p:cNvPr id="7" name="Text 5"/>
          <p:cNvSpPr txBox="1"/>
          <p:nvPr/>
        </p:nvSpPr>
        <p:spPr>
          <a:xfrm>
            <a:off x="822960" y="4297680"/>
            <a:ext cx="4754880" cy="1737360"/>
          </a:xfrm>
          <a:prstGeom prst="rect">
            <a:avLst/>
          </a:prstGeom>
          <a:noFill/>
          <a:ln/>
        </p:spPr>
        <p:txBody>
          <a:bodyPr wrap="square" lIns="0" tIns="0" rIns="0" bIns="0" rtlCol="0" anchor="t"/>
          <a:lstStyle/>
          <a:p>
            <a:pPr marL="342900" indent="-342900">
              <a:spcAft>
                <a:spcPts val="900"/>
              </a:spcAft>
              <a:buSzPct val="100000"/>
              <a:buChar char="•"/>
            </a:pPr>
            <a:r>
              <a:rPr lang="en-US" sz="1400" b="1" dirty="0">
                <a:solidFill>
                  <a:srgbClr val="22303C"/>
                </a:solidFill>
                <a:latin typeface="Calibri" pitchFamily="34" charset="0"/>
                <a:ea typeface="Calibri" pitchFamily="34" charset="-122"/>
                <a:cs typeface="Calibri" pitchFamily="34" charset="-120"/>
              </a:rPr>
              <a:t>pandas: </a:t>
            </a:r>
            <a:r>
              <a:rPr lang="en-US" sz="1400" dirty="0">
                <a:solidFill>
                  <a:srgbClr val="22303C"/>
                </a:solidFill>
                <a:latin typeface="Calibri" pitchFamily="34" charset="0"/>
                <a:ea typeface="Calibri" pitchFamily="34" charset="-122"/>
                <a:cs typeface="Calibri" pitchFamily="34" charset="-120"/>
              </a:rPr>
              <a:t>combine, clean and group the data</a:t>
            </a:r>
            <a:endParaRPr lang="en-US" sz="1400" dirty="0"/>
          </a:p>
          <a:p>
            <a:pPr marL="342900" indent="-342900">
              <a:spcAft>
                <a:spcPts val="900"/>
              </a:spcAft>
              <a:buSzPct val="100000"/>
              <a:buChar char="•"/>
            </a:pPr>
            <a:r>
              <a:rPr lang="en-US" sz="1400" b="1" dirty="0">
                <a:solidFill>
                  <a:srgbClr val="22303C"/>
                </a:solidFill>
                <a:latin typeface="Calibri" pitchFamily="34" charset="0"/>
                <a:ea typeface="Calibri" pitchFamily="34" charset="-122"/>
                <a:cs typeface="Calibri" pitchFamily="34" charset="-120"/>
              </a:rPr>
              <a:t>NumPy: </a:t>
            </a:r>
            <a:r>
              <a:rPr lang="en-US" sz="1400" dirty="0">
                <a:solidFill>
                  <a:srgbClr val="22303C"/>
                </a:solidFill>
                <a:latin typeface="Calibri" pitchFamily="34" charset="0"/>
                <a:ea typeface="Calibri" pitchFamily="34" charset="-122"/>
                <a:cs typeface="Calibri" pitchFamily="34" charset="-120"/>
              </a:rPr>
              <a:t>vectorized Heat Index calculation</a:t>
            </a:r>
            <a:endParaRPr lang="en-US" sz="1400" dirty="0"/>
          </a:p>
          <a:p>
            <a:pPr marL="342900" indent="-342900">
              <a:spcAft>
                <a:spcPts val="900"/>
              </a:spcAft>
              <a:buSzPct val="100000"/>
              <a:buChar char="•"/>
            </a:pPr>
            <a:r>
              <a:rPr lang="en-US" sz="1400" b="1" dirty="0">
                <a:solidFill>
                  <a:srgbClr val="22303C"/>
                </a:solidFill>
                <a:latin typeface="Calibri" pitchFamily="34" charset="0"/>
                <a:ea typeface="Calibri" pitchFamily="34" charset="-122"/>
                <a:cs typeface="Calibri" pitchFamily="34" charset="-120"/>
              </a:rPr>
              <a:t>SciPy / Matplotlib: </a:t>
            </a:r>
            <a:r>
              <a:rPr lang="en-US" sz="1400" dirty="0">
                <a:solidFill>
                  <a:srgbClr val="22303C"/>
                </a:solidFill>
                <a:latin typeface="Calibri" pitchFamily="34" charset="0"/>
                <a:ea typeface="Calibri" pitchFamily="34" charset="-122"/>
                <a:cs typeface="Calibri" pitchFamily="34" charset="-120"/>
              </a:rPr>
              <a:t>trend tests and charts</a:t>
            </a:r>
            <a:endParaRPr lang="en-US" sz="1400" dirty="0"/>
          </a:p>
        </p:txBody>
      </p:sp>
      <p:sp>
        <p:nvSpPr>
          <p:cNvPr id="8" name="Text 6"/>
          <p:cNvSpPr txBox="1"/>
          <p:nvPr/>
        </p:nvSpPr>
        <p:spPr>
          <a:xfrm>
            <a:off x="6309360" y="1371600"/>
            <a:ext cx="5303520" cy="365760"/>
          </a:xfrm>
          <a:prstGeom prst="rect">
            <a:avLst/>
          </a:prstGeom>
          <a:noFill/>
          <a:ln/>
        </p:spPr>
        <p:txBody>
          <a:bodyPr wrap="square" lIns="0" tIns="0" rIns="0" bIns="0" rtlCol="0" anchor="t"/>
          <a:lstStyle/>
          <a:p>
            <a:pPr marL="0" indent="0">
              <a:buNone/>
            </a:pPr>
            <a:r>
              <a:rPr lang="en-US" sz="2000" b="1" dirty="0">
                <a:solidFill>
                  <a:srgbClr val="14213D"/>
                </a:solidFill>
                <a:latin typeface="Cambria" pitchFamily="34" charset="0"/>
                <a:ea typeface="Cambria" pitchFamily="34" charset="-122"/>
                <a:cs typeface="Cambria" pitchFamily="34" charset="-120"/>
              </a:rPr>
              <a:t>Analysis questions</a:t>
            </a:r>
            <a:endParaRPr lang="en-US" sz="2000" dirty="0"/>
          </a:p>
        </p:txBody>
      </p:sp>
      <p:sp>
        <p:nvSpPr>
          <p:cNvPr id="9" name="Text 7"/>
          <p:cNvSpPr txBox="1"/>
          <p:nvPr/>
        </p:nvSpPr>
        <p:spPr>
          <a:xfrm>
            <a:off x="6309360" y="1965960"/>
            <a:ext cx="5303520" cy="4023360"/>
          </a:xfrm>
          <a:prstGeom prst="rect">
            <a:avLst/>
          </a:prstGeom>
          <a:noFill/>
          <a:ln/>
        </p:spPr>
        <p:txBody>
          <a:bodyPr wrap="square" lIns="0" tIns="0" rIns="0" bIns="0" rtlCol="0" anchor="t"/>
          <a:lstStyle/>
          <a:p>
            <a:pPr marL="342900" indent="-342900">
              <a:spcAft>
                <a:spcPts val="1400"/>
              </a:spcAft>
              <a:buSzPct val="100000"/>
              <a:buFont typeface="+mj-lt"/>
              <a:buAutoNum type="arabicPeriod"/>
            </a:pPr>
            <a:r>
              <a:rPr lang="en-US" sz="1700" dirty="0">
                <a:solidFill>
                  <a:srgbClr val="22303C"/>
                </a:solidFill>
                <a:latin typeface="Calibri" pitchFamily="34" charset="0"/>
                <a:ea typeface="Calibri" pitchFamily="34" charset="-122"/>
                <a:cs typeface="Calibri" pitchFamily="34" charset="-120"/>
              </a:rPr>
              <a:t>Which city has the highest share of Danger-level days?</a:t>
            </a:r>
            <a:endParaRPr lang="en-US" sz="1700" dirty="0"/>
          </a:p>
          <a:p>
            <a:pPr marL="342900" indent="-342900">
              <a:spcAft>
                <a:spcPts val="1400"/>
              </a:spcAft>
              <a:buSzPct val="100000"/>
              <a:buFont typeface="+mj-lt"/>
              <a:buAutoNum type="arabicPeriod"/>
            </a:pPr>
            <a:r>
              <a:rPr lang="en-US" sz="1700" dirty="0">
                <a:solidFill>
                  <a:srgbClr val="22303C"/>
                </a:solidFill>
                <a:latin typeface="Calibri" pitchFamily="34" charset="0"/>
                <a:ea typeface="Calibri" pitchFamily="34" charset="-122"/>
                <a:cs typeface="Calibri" pitchFamily="34" charset="-120"/>
              </a:rPr>
              <a:t>Does a temperature-only ranking match the humidity-adjusted ranking?</a:t>
            </a:r>
            <a:endParaRPr lang="en-US" sz="1700" dirty="0"/>
          </a:p>
          <a:p>
            <a:pPr marL="342900" indent="-342900">
              <a:spcAft>
                <a:spcPts val="1400"/>
              </a:spcAft>
              <a:buSzPct val="100000"/>
              <a:buFont typeface="+mj-lt"/>
              <a:buAutoNum type="arabicPeriod"/>
            </a:pPr>
            <a:r>
              <a:rPr lang="en-US" sz="1700" dirty="0">
                <a:solidFill>
                  <a:srgbClr val="22303C"/>
                </a:solidFill>
                <a:latin typeface="Calibri" pitchFamily="34" charset="0"/>
                <a:ea typeface="Calibri" pitchFamily="34" charset="-122"/>
                <a:cs typeface="Calibri" pitchFamily="34" charset="-120"/>
              </a:rPr>
              <a:t>In which months and seasons does heat stress peak in each city?</a:t>
            </a:r>
            <a:endParaRPr lang="en-US" sz="1700" dirty="0"/>
          </a:p>
          <a:p>
            <a:pPr marL="342900" indent="-342900">
              <a:spcAft>
                <a:spcPts val="1400"/>
              </a:spcAft>
              <a:buSzPct val="100000"/>
              <a:buFont typeface="+mj-lt"/>
              <a:buAutoNum type="arabicPeriod"/>
            </a:pPr>
            <a:r>
              <a:rPr lang="en-US" sz="1700" dirty="0">
                <a:solidFill>
                  <a:srgbClr val="22303C"/>
                </a:solidFill>
                <a:latin typeface="Calibri" pitchFamily="34" charset="0"/>
                <a:ea typeface="Calibri" pitchFamily="34" charset="-122"/>
                <a:cs typeface="Calibri" pitchFamily="34" charset="-120"/>
              </a:rPr>
              <a:t>Is heat stress or hot-day frequency changing from 2010 to 2025?</a:t>
            </a:r>
            <a:endParaRPr lang="en-US" sz="1700" dirty="0"/>
          </a:p>
          <a:p>
            <a:pPr marL="342900" indent="-342900">
              <a:spcAft>
                <a:spcPts val="1400"/>
              </a:spcAft>
              <a:buSzPct val="100000"/>
              <a:buFont typeface="+mj-lt"/>
              <a:buAutoNum type="arabicPeriod"/>
            </a:pPr>
            <a:r>
              <a:rPr lang="en-US" sz="1700" dirty="0">
                <a:solidFill>
                  <a:srgbClr val="22303C"/>
                </a:solidFill>
                <a:latin typeface="Calibri" pitchFamily="34" charset="0"/>
                <a:ea typeface="Calibri" pitchFamily="34" charset="-122"/>
                <a:cs typeface="Calibri" pitchFamily="34" charset="-120"/>
              </a:rPr>
              <a:t>Does the Heat Index agree with wet-bulb temperature?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marL="0" indent="0">
              <a:buNone/>
            </a:pPr>
            <a:r>
              <a:rPr lang="en-US" sz="3400" b="1" dirty="0">
                <a:solidFill>
                  <a:srgbClr val="14213D"/>
                </a:solidFill>
                <a:latin typeface="Cambria" pitchFamily="34" charset="0"/>
                <a:ea typeface="Cambria" pitchFamily="34" charset="-122"/>
                <a:cs typeface="Cambria" pitchFamily="34" charset="-120"/>
              </a:rPr>
              <a:t>Dataset Information</a:t>
            </a:r>
            <a:endParaRPr lang="en-US" sz="3400" dirty="0"/>
          </a:p>
        </p:txBody>
      </p:sp>
      <p:sp>
        <p:nvSpPr>
          <p:cNvPr id="3" name="Shape 1"/>
          <p:cNvSpPr/>
          <p:nvPr/>
        </p:nvSpPr>
        <p:spPr>
          <a:xfrm>
            <a:off x="548640" y="1371600"/>
            <a:ext cx="2560320" cy="1280160"/>
          </a:xfrm>
          <a:prstGeom prst="roundRect">
            <a:avLst>
              <a:gd name="adj" fmla="val 8571"/>
            </a:avLst>
          </a:prstGeom>
          <a:solidFill>
            <a:srgbClr val="EEF2F6"/>
          </a:solidFill>
          <a:ln w="12700">
            <a:solidFill>
              <a:srgbClr val="EEF2F6"/>
            </a:solidFill>
            <a:prstDash val="solid"/>
          </a:ln>
        </p:spPr>
      </p:sp>
      <p:sp>
        <p:nvSpPr>
          <p:cNvPr id="4" name="Text 2"/>
          <p:cNvSpPr txBox="1"/>
          <p:nvPr/>
        </p:nvSpPr>
        <p:spPr>
          <a:xfrm>
            <a:off x="731520" y="1463040"/>
            <a:ext cx="2194560" cy="640080"/>
          </a:xfrm>
          <a:prstGeom prst="rect">
            <a:avLst/>
          </a:prstGeom>
          <a:noFill/>
          <a:ln/>
        </p:spPr>
        <p:txBody>
          <a:bodyPr wrap="square" lIns="0" tIns="0" rIns="0" bIns="0" rtlCol="0" anchor="t"/>
          <a:lstStyle/>
          <a:p>
            <a:pPr marL="0" indent="0">
              <a:buNone/>
            </a:pPr>
            <a:r>
              <a:rPr lang="en-US" sz="3400" b="1" dirty="0">
                <a:solidFill>
                  <a:srgbClr val="E4572E"/>
                </a:solidFill>
                <a:latin typeface="Cambria" pitchFamily="34" charset="0"/>
                <a:ea typeface="Cambria" pitchFamily="34" charset="-122"/>
                <a:cs typeface="Cambria" pitchFamily="34" charset="-120"/>
              </a:rPr>
              <a:t>35,064</a:t>
            </a:r>
            <a:endParaRPr lang="en-US" sz="3400" dirty="0"/>
          </a:p>
        </p:txBody>
      </p:sp>
      <p:sp>
        <p:nvSpPr>
          <p:cNvPr id="5" name="Text 3"/>
          <p:cNvSpPr txBox="1"/>
          <p:nvPr/>
        </p:nvSpPr>
        <p:spPr>
          <a:xfrm>
            <a:off x="731520" y="2103120"/>
            <a:ext cx="2194560" cy="457200"/>
          </a:xfrm>
          <a:prstGeom prst="rect">
            <a:avLst/>
          </a:prstGeom>
          <a:noFill/>
          <a:ln/>
        </p:spPr>
        <p:txBody>
          <a:bodyPr wrap="square" lIns="0" tIns="0" rIns="0" bIns="0" rtlCol="0" anchor="t"/>
          <a:lstStyle/>
          <a:p>
            <a:pPr marL="0" indent="0">
              <a:buNone/>
            </a:pPr>
            <a:r>
              <a:rPr lang="en-US" sz="1300" dirty="0">
                <a:solidFill>
                  <a:srgbClr val="5C6B7A"/>
                </a:solidFill>
                <a:latin typeface="Calibri" pitchFamily="34" charset="0"/>
                <a:ea typeface="Calibri" pitchFamily="34" charset="-122"/>
                <a:cs typeface="Calibri" pitchFamily="34" charset="-120"/>
              </a:rPr>
              <a:t>rows</a:t>
            </a:r>
            <a:endParaRPr lang="en-US" sz="1300" dirty="0"/>
          </a:p>
        </p:txBody>
      </p:sp>
      <p:sp>
        <p:nvSpPr>
          <p:cNvPr id="6" name="Shape 4"/>
          <p:cNvSpPr/>
          <p:nvPr/>
        </p:nvSpPr>
        <p:spPr>
          <a:xfrm>
            <a:off x="3392424" y="1371600"/>
            <a:ext cx="2560320" cy="1280160"/>
          </a:xfrm>
          <a:prstGeom prst="roundRect">
            <a:avLst>
              <a:gd name="adj" fmla="val 8571"/>
            </a:avLst>
          </a:prstGeom>
          <a:solidFill>
            <a:srgbClr val="EEF2F6"/>
          </a:solidFill>
          <a:ln w="12700">
            <a:solidFill>
              <a:srgbClr val="EEF2F6"/>
            </a:solidFill>
            <a:prstDash val="solid"/>
          </a:ln>
        </p:spPr>
      </p:sp>
      <p:sp>
        <p:nvSpPr>
          <p:cNvPr id="7" name="Text 5"/>
          <p:cNvSpPr txBox="1"/>
          <p:nvPr/>
        </p:nvSpPr>
        <p:spPr>
          <a:xfrm>
            <a:off x="3575304" y="1463040"/>
            <a:ext cx="2194560" cy="640080"/>
          </a:xfrm>
          <a:prstGeom prst="rect">
            <a:avLst/>
          </a:prstGeom>
          <a:noFill/>
          <a:ln/>
        </p:spPr>
        <p:txBody>
          <a:bodyPr wrap="square" lIns="0" tIns="0" rIns="0" bIns="0" rtlCol="0" anchor="t"/>
          <a:lstStyle/>
          <a:p>
            <a:pPr marL="0" indent="0">
              <a:buNone/>
            </a:pPr>
            <a:r>
              <a:rPr lang="en-US" sz="3400" b="1" dirty="0">
                <a:solidFill>
                  <a:srgbClr val="E4572E"/>
                </a:solidFill>
                <a:latin typeface="Cambria" pitchFamily="34" charset="0"/>
                <a:ea typeface="Cambria" pitchFamily="34" charset="-122"/>
                <a:cs typeface="Cambria" pitchFamily="34" charset="-120"/>
              </a:rPr>
              <a:t>11</a:t>
            </a:r>
            <a:endParaRPr lang="en-US" sz="3400" dirty="0"/>
          </a:p>
        </p:txBody>
      </p:sp>
      <p:sp>
        <p:nvSpPr>
          <p:cNvPr id="8" name="Text 6"/>
          <p:cNvSpPr txBox="1"/>
          <p:nvPr/>
        </p:nvSpPr>
        <p:spPr>
          <a:xfrm>
            <a:off x="3575304" y="2103120"/>
            <a:ext cx="2194560" cy="457200"/>
          </a:xfrm>
          <a:prstGeom prst="rect">
            <a:avLst/>
          </a:prstGeom>
          <a:noFill/>
          <a:ln/>
        </p:spPr>
        <p:txBody>
          <a:bodyPr wrap="square" lIns="0" tIns="0" rIns="0" bIns="0" rtlCol="0" anchor="t"/>
          <a:lstStyle/>
          <a:p>
            <a:pPr marL="0" indent="0">
              <a:buNone/>
            </a:pPr>
            <a:r>
              <a:rPr lang="en-US" sz="1300" dirty="0">
                <a:solidFill>
                  <a:srgbClr val="5C6B7A"/>
                </a:solidFill>
                <a:latin typeface="Calibri" pitchFamily="34" charset="0"/>
                <a:ea typeface="Calibri" pitchFamily="34" charset="-122"/>
                <a:cs typeface="Calibri" pitchFamily="34" charset="-120"/>
              </a:rPr>
              <a:t>raw columns (13 after cleaning)</a:t>
            </a:r>
            <a:endParaRPr lang="en-US" sz="1300" dirty="0"/>
          </a:p>
        </p:txBody>
      </p:sp>
      <p:sp>
        <p:nvSpPr>
          <p:cNvPr id="9" name="Shape 7"/>
          <p:cNvSpPr/>
          <p:nvPr/>
        </p:nvSpPr>
        <p:spPr>
          <a:xfrm>
            <a:off x="6236208" y="1371600"/>
            <a:ext cx="2560320" cy="1280160"/>
          </a:xfrm>
          <a:prstGeom prst="roundRect">
            <a:avLst>
              <a:gd name="adj" fmla="val 8571"/>
            </a:avLst>
          </a:prstGeom>
          <a:solidFill>
            <a:srgbClr val="EEF2F6"/>
          </a:solidFill>
          <a:ln w="12700">
            <a:solidFill>
              <a:srgbClr val="EEF2F6"/>
            </a:solidFill>
            <a:prstDash val="solid"/>
          </a:ln>
        </p:spPr>
      </p:sp>
      <p:sp>
        <p:nvSpPr>
          <p:cNvPr id="10" name="Text 8"/>
          <p:cNvSpPr txBox="1"/>
          <p:nvPr/>
        </p:nvSpPr>
        <p:spPr>
          <a:xfrm>
            <a:off x="6419088" y="1463040"/>
            <a:ext cx="2194560" cy="640080"/>
          </a:xfrm>
          <a:prstGeom prst="rect">
            <a:avLst/>
          </a:prstGeom>
          <a:noFill/>
          <a:ln/>
        </p:spPr>
        <p:txBody>
          <a:bodyPr wrap="square" lIns="0" tIns="0" rIns="0" bIns="0" rtlCol="0" anchor="t"/>
          <a:lstStyle/>
          <a:p>
            <a:pPr marL="0" indent="0">
              <a:buNone/>
            </a:pPr>
            <a:r>
              <a:rPr lang="en-US" sz="3400" b="1" dirty="0">
                <a:solidFill>
                  <a:srgbClr val="E4572E"/>
                </a:solidFill>
                <a:latin typeface="Cambria" pitchFamily="34" charset="0"/>
                <a:ea typeface="Cambria" pitchFamily="34" charset="-122"/>
                <a:cs typeface="Cambria" pitchFamily="34" charset="-120"/>
              </a:rPr>
              <a:t>6</a:t>
            </a:r>
            <a:endParaRPr lang="en-US" sz="3400" dirty="0"/>
          </a:p>
        </p:txBody>
      </p:sp>
      <p:sp>
        <p:nvSpPr>
          <p:cNvPr id="11" name="Text 9"/>
          <p:cNvSpPr txBox="1"/>
          <p:nvPr/>
        </p:nvSpPr>
        <p:spPr>
          <a:xfrm>
            <a:off x="6419088" y="2103120"/>
            <a:ext cx="2194560" cy="457200"/>
          </a:xfrm>
          <a:prstGeom prst="rect">
            <a:avLst/>
          </a:prstGeom>
          <a:noFill/>
          <a:ln/>
        </p:spPr>
        <p:txBody>
          <a:bodyPr wrap="square" lIns="0" tIns="0" rIns="0" bIns="0" rtlCol="0" anchor="t"/>
          <a:lstStyle/>
          <a:p>
            <a:pPr marL="0" indent="0">
              <a:buNone/>
            </a:pPr>
            <a:r>
              <a:rPr lang="en-US" sz="1300" dirty="0">
                <a:solidFill>
                  <a:srgbClr val="5C6B7A"/>
                </a:solidFill>
                <a:latin typeface="Calibri" pitchFamily="34" charset="0"/>
                <a:ea typeface="Calibri" pitchFamily="34" charset="-122"/>
                <a:cs typeface="Calibri" pitchFamily="34" charset="-120"/>
              </a:rPr>
              <a:t>cities</a:t>
            </a:r>
            <a:endParaRPr lang="en-US" sz="1300" dirty="0"/>
          </a:p>
        </p:txBody>
      </p:sp>
      <p:sp>
        <p:nvSpPr>
          <p:cNvPr id="12" name="Shape 10"/>
          <p:cNvSpPr/>
          <p:nvPr/>
        </p:nvSpPr>
        <p:spPr>
          <a:xfrm>
            <a:off x="9079992" y="1371600"/>
            <a:ext cx="2560320" cy="1280160"/>
          </a:xfrm>
          <a:prstGeom prst="roundRect">
            <a:avLst>
              <a:gd name="adj" fmla="val 8571"/>
            </a:avLst>
          </a:prstGeom>
          <a:solidFill>
            <a:srgbClr val="EEF2F6"/>
          </a:solidFill>
          <a:ln w="12700">
            <a:solidFill>
              <a:srgbClr val="EEF2F6"/>
            </a:solidFill>
            <a:prstDash val="solid"/>
          </a:ln>
        </p:spPr>
      </p:sp>
      <p:sp>
        <p:nvSpPr>
          <p:cNvPr id="13" name="Text 11"/>
          <p:cNvSpPr txBox="1"/>
          <p:nvPr/>
        </p:nvSpPr>
        <p:spPr>
          <a:xfrm>
            <a:off x="9262872" y="1463040"/>
            <a:ext cx="2194560" cy="640080"/>
          </a:xfrm>
          <a:prstGeom prst="rect">
            <a:avLst/>
          </a:prstGeom>
          <a:noFill/>
          <a:ln/>
        </p:spPr>
        <p:txBody>
          <a:bodyPr wrap="square" lIns="0" tIns="0" rIns="0" bIns="0" rtlCol="0" anchor="t"/>
          <a:lstStyle/>
          <a:p>
            <a:pPr marL="0" indent="0">
              <a:buNone/>
            </a:pPr>
            <a:r>
              <a:rPr lang="en-US" sz="3400" b="1" dirty="0">
                <a:solidFill>
                  <a:srgbClr val="E4572E"/>
                </a:solidFill>
                <a:latin typeface="Cambria" pitchFamily="34" charset="0"/>
                <a:ea typeface="Cambria" pitchFamily="34" charset="-122"/>
                <a:cs typeface="Cambria" pitchFamily="34" charset="-120"/>
              </a:rPr>
              <a:t>16</a:t>
            </a:r>
            <a:endParaRPr lang="en-US" sz="3400" dirty="0"/>
          </a:p>
        </p:txBody>
      </p:sp>
      <p:sp>
        <p:nvSpPr>
          <p:cNvPr id="14" name="Text 12"/>
          <p:cNvSpPr txBox="1"/>
          <p:nvPr/>
        </p:nvSpPr>
        <p:spPr>
          <a:xfrm>
            <a:off x="9262872" y="2103120"/>
            <a:ext cx="2194560" cy="457200"/>
          </a:xfrm>
          <a:prstGeom prst="rect">
            <a:avLst/>
          </a:prstGeom>
          <a:noFill/>
          <a:ln/>
        </p:spPr>
        <p:txBody>
          <a:bodyPr wrap="square" lIns="0" tIns="0" rIns="0" bIns="0" rtlCol="0" anchor="t"/>
          <a:lstStyle/>
          <a:p>
            <a:pPr marL="0" indent="0">
              <a:buNone/>
            </a:pPr>
            <a:r>
              <a:rPr lang="en-US" sz="1300" dirty="0">
                <a:solidFill>
                  <a:srgbClr val="5C6B7A"/>
                </a:solidFill>
                <a:latin typeface="Calibri" pitchFamily="34" charset="0"/>
                <a:ea typeface="Calibri" pitchFamily="34" charset="-122"/>
                <a:cs typeface="Calibri" pitchFamily="34" charset="-120"/>
              </a:rPr>
              <a:t>years, daily (2010–2025)</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2926080"/>
          <a:ext cx="5760720" cy="2743200"/>
        </p:xfrm>
        <a:graphic>
          <a:graphicData uri="http://schemas.openxmlformats.org/drawingml/2006/table">
            <a:tbl>
              <a:tblPr/>
              <a:tblGrid>
                <a:gridCol w="12801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548640">
                <a:tc>
                  <a:txBody>
                    <a:bodyPr/>
                    <a:lstStyle/>
                    <a:p>
                      <a:pPr marL="0" indent="0">
                        <a:buNone/>
                      </a:pPr>
                      <a:r>
                        <a:rPr lang="en-US" sz="1300" b="1" dirty="0">
                          <a:solidFill>
                            <a:srgbClr val="22303C"/>
                          </a:solidFill>
                          <a:latin typeface="Calibri" pitchFamily="34" charset="0"/>
                          <a:ea typeface="Calibri" pitchFamily="34" charset="-122"/>
                          <a:cs typeface="Calibri" pitchFamily="34" charset="-120"/>
                        </a:rPr>
                        <a:t>Dataset</a:t>
                      </a:r>
                      <a:endParaRPr lang="en-US" sz="13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marL="0" indent="0">
                        <a:buNone/>
                      </a:pPr>
                      <a:r>
                        <a:rPr lang="en-US" sz="1300" dirty="0">
                          <a:solidFill>
                            <a:srgbClr val="22303C"/>
                          </a:solidFill>
                          <a:latin typeface="Calibri" pitchFamily="34" charset="0"/>
                          <a:ea typeface="Calibri" pitchFamily="34" charset="-122"/>
                          <a:cs typeface="Calibri" pitchFamily="34" charset="-120"/>
                        </a:rPr>
                        <a:t>NASA POWER daily point data (MERRA-2), one file per city</a:t>
                      </a:r>
                      <a:endParaRPr lang="en-US" sz="13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0"/>
                  </a:ext>
                </a:extLst>
              </a:tr>
              <a:tr h="548640">
                <a:tc>
                  <a:txBody>
                    <a:bodyPr/>
                    <a:lstStyle/>
                    <a:p>
                      <a:pPr marL="0" indent="0">
                        <a:buNone/>
                      </a:pPr>
                      <a:r>
                        <a:rPr lang="en-US" sz="1300" b="1" dirty="0">
                          <a:solidFill>
                            <a:srgbClr val="22303C"/>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marL="0" indent="0">
                        <a:buNone/>
                      </a:pPr>
                      <a:r>
                        <a:rPr lang="en-US" sz="1300" dirty="0">
                          <a:solidFill>
                            <a:srgbClr val="22303C"/>
                          </a:solidFill>
                          <a:latin typeface="Calibri" pitchFamily="34" charset="0"/>
                          <a:ea typeface="Calibri" pitchFamily="34" charset="-122"/>
                          <a:cs typeface="Calibri" pitchFamily="34" charset="-120"/>
                        </a:rPr>
                        <a:t>NASA POWER Data Access Viewer (power.larc.nasa.gov)</a:t>
                      </a:r>
                      <a:endParaRPr lang="en-US" sz="13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300" b="1" dirty="0">
                          <a:solidFill>
                            <a:srgbClr val="22303C"/>
                          </a:solidFill>
                          <a:latin typeface="Calibri" pitchFamily="34" charset="0"/>
                          <a:ea typeface="Calibri" pitchFamily="34" charset="-122"/>
                          <a:cs typeface="Calibri" pitchFamily="34" charset="-120"/>
                        </a:rPr>
                        <a:t>Format</a:t>
                      </a:r>
                      <a:endParaRPr lang="en-US" sz="13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marL="0" indent="0">
                        <a:buNone/>
                      </a:pPr>
                      <a:r>
                        <a:rPr lang="en-US" sz="1300" dirty="0">
                          <a:solidFill>
                            <a:srgbClr val="22303C"/>
                          </a:solidFill>
                          <a:latin typeface="Calibri" pitchFamily="34" charset="0"/>
                          <a:ea typeface="Calibri" pitchFamily="34" charset="-122"/>
                          <a:cs typeface="Calibri" pitchFamily="34" charset="-120"/>
                        </a:rPr>
                        <a:t>CSV (16 metadata header lines per file)</a:t>
                      </a:r>
                      <a:endParaRPr lang="en-US" sz="13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300" b="1" dirty="0">
                          <a:solidFill>
                            <a:srgbClr val="22303C"/>
                          </a:solidFill>
                          <a:latin typeface="Calibri" pitchFamily="34" charset="0"/>
                          <a:ea typeface="Calibri" pitchFamily="34" charset="-122"/>
                          <a:cs typeface="Calibri" pitchFamily="34" charset="-120"/>
                        </a:rPr>
                        <a:t>Period</a:t>
                      </a:r>
                      <a:endParaRPr lang="en-US" sz="13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marL="0" indent="0">
                        <a:buNone/>
                      </a:pPr>
                      <a:r>
                        <a:rPr lang="en-US" sz="1300" dirty="0">
                          <a:solidFill>
                            <a:srgbClr val="22303C"/>
                          </a:solidFill>
                          <a:latin typeface="Calibri" pitchFamily="34" charset="0"/>
                          <a:ea typeface="Calibri" pitchFamily="34" charset="-122"/>
                          <a:cs typeface="Calibri" pitchFamily="34" charset="-120"/>
                        </a:rPr>
                        <a:t>1 Jan 2010 to 31 Dec 2025, daily</a:t>
                      </a:r>
                      <a:endParaRPr lang="en-US" sz="13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300" b="1" dirty="0">
                          <a:solidFill>
                            <a:srgbClr val="22303C"/>
                          </a:solidFill>
                          <a:latin typeface="Calibri" pitchFamily="34" charset="0"/>
                          <a:ea typeface="Calibri" pitchFamily="34" charset="-122"/>
                          <a:cs typeface="Calibri" pitchFamily="34" charset="-120"/>
                        </a:rPr>
                        <a:t>Description</a:t>
                      </a:r>
                      <a:endParaRPr lang="en-US" sz="13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marL="0" indent="0">
                        <a:buNone/>
                      </a:pPr>
                      <a:r>
                        <a:rPr lang="en-US" sz="1300" dirty="0">
                          <a:solidFill>
                            <a:srgbClr val="22303C"/>
                          </a:solidFill>
                          <a:latin typeface="Calibri" pitchFamily="34" charset="0"/>
                          <a:ea typeface="Calibri" pitchFamily="34" charset="-122"/>
                          <a:cs typeface="Calibri" pitchFamily="34" charset="-120"/>
                        </a:rPr>
                        <a:t>Daily temperature, humidity, wet-bulb, wind and rainfall values at each city's coordinates</a:t>
                      </a:r>
                      <a:endParaRPr lang="en-US" sz="13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16" name="Table 1"/>
          <p:cNvGraphicFramePr>
            <a:graphicFrameLocks noGrp="1"/>
          </p:cNvGraphicFramePr>
          <p:nvPr>
            <p:extLst>
              <p:ext uri="{D42A27DB-BD31-4B8C-83A1-F6EECF244321}">
                <p14:modId xmlns:p14="http://schemas.microsoft.com/office/powerpoint/2010/main" val="1579011935"/>
              </p:ext>
            </p:extLst>
          </p:nvPr>
        </p:nvGraphicFramePr>
        <p:xfrm>
          <a:off x="6675120" y="2926080"/>
          <a:ext cx="4937760" cy="2743200"/>
        </p:xfrm>
        <a:graphic>
          <a:graphicData uri="http://schemas.openxmlformats.org/drawingml/2006/table">
            <a:tbl>
              <a:tblPr/>
              <a:tblGrid>
                <a:gridCol w="155448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45720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Feature</a:t>
                      </a:r>
                      <a:endParaRPr lang="en-US" sz="13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213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Meaning</a:t>
                      </a:r>
                      <a:endParaRPr lang="en-US" sz="13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57200">
                <a:tc>
                  <a:txBody>
                    <a:bodyPr/>
                    <a:lstStyle/>
                    <a:p>
                      <a:pPr marL="0" indent="0">
                        <a:buNone/>
                      </a:pPr>
                      <a:r>
                        <a:rPr lang="en-US" sz="1300" dirty="0">
                          <a:solidFill>
                            <a:srgbClr val="22303C"/>
                          </a:solidFill>
                          <a:latin typeface="Calibri" pitchFamily="34" charset="0"/>
                          <a:ea typeface="Calibri" pitchFamily="34" charset="-122"/>
                          <a:cs typeface="Calibri" pitchFamily="34" charset="-120"/>
                        </a:rPr>
                        <a:t>T2M</a:t>
                      </a:r>
                      <a:endParaRPr lang="en-US" sz="13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1300" dirty="0">
                          <a:solidFill>
                            <a:srgbClr val="22303C"/>
                          </a:solidFill>
                          <a:latin typeface="Calibri" pitchFamily="34" charset="0"/>
                          <a:ea typeface="Calibri" pitchFamily="34" charset="-122"/>
                          <a:cs typeface="Calibri" pitchFamily="34" charset="-120"/>
                        </a:rPr>
                        <a:t>Mean air temperature (°C)</a:t>
                      </a:r>
                      <a:endParaRPr lang="en-US" sz="13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300" dirty="0">
                          <a:solidFill>
                            <a:srgbClr val="22303C"/>
                          </a:solidFill>
                          <a:latin typeface="Calibri" pitchFamily="34" charset="0"/>
                          <a:ea typeface="Calibri" pitchFamily="34" charset="-122"/>
                          <a:cs typeface="Calibri" pitchFamily="34" charset="-120"/>
                        </a:rPr>
                        <a:t>T2M_MAX</a:t>
                      </a:r>
                      <a:endParaRPr lang="en-US" sz="13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1300" dirty="0">
                          <a:solidFill>
                            <a:srgbClr val="22303C"/>
                          </a:solidFill>
                          <a:latin typeface="Calibri" pitchFamily="34" charset="0"/>
                          <a:ea typeface="Calibri" pitchFamily="34" charset="-122"/>
                          <a:cs typeface="Calibri" pitchFamily="34" charset="-120"/>
                        </a:rPr>
                        <a:t>Daily maximum temperature (°C)</a:t>
                      </a:r>
                      <a:endParaRPr lang="en-US" sz="13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300" dirty="0">
                          <a:solidFill>
                            <a:srgbClr val="22303C"/>
                          </a:solidFill>
                          <a:latin typeface="Calibri" pitchFamily="34" charset="0"/>
                          <a:ea typeface="Calibri" pitchFamily="34" charset="-122"/>
                          <a:cs typeface="Calibri" pitchFamily="34" charset="-120"/>
                        </a:rPr>
                        <a:t>RH2M</a:t>
                      </a:r>
                      <a:endParaRPr lang="en-US" sz="13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1300" dirty="0">
                          <a:solidFill>
                            <a:srgbClr val="22303C"/>
                          </a:solidFill>
                          <a:latin typeface="Calibri" pitchFamily="34" charset="0"/>
                          <a:ea typeface="Calibri" pitchFamily="34" charset="-122"/>
                          <a:cs typeface="Calibri" pitchFamily="34" charset="-120"/>
                        </a:rPr>
                        <a:t>Relative humidity (%)</a:t>
                      </a:r>
                      <a:endParaRPr lang="en-US" sz="13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300" dirty="0">
                          <a:solidFill>
                            <a:srgbClr val="22303C"/>
                          </a:solidFill>
                          <a:latin typeface="Calibri" pitchFamily="34" charset="0"/>
                          <a:ea typeface="Calibri" pitchFamily="34" charset="-122"/>
                          <a:cs typeface="Calibri" pitchFamily="34" charset="-120"/>
                        </a:rPr>
                        <a:t>T2MWET</a:t>
                      </a:r>
                      <a:endParaRPr lang="en-US" sz="13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1300" dirty="0">
                          <a:solidFill>
                            <a:srgbClr val="22303C"/>
                          </a:solidFill>
                          <a:latin typeface="Calibri" pitchFamily="34" charset="0"/>
                          <a:ea typeface="Calibri" pitchFamily="34" charset="-122"/>
                          <a:cs typeface="Calibri" pitchFamily="34" charset="-120"/>
                        </a:rPr>
                        <a:t>Wet-bulb temperature (°C)</a:t>
                      </a:r>
                      <a:endParaRPr lang="en-US" sz="13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300" dirty="0">
                          <a:solidFill>
                            <a:srgbClr val="22303C"/>
                          </a:solidFill>
                          <a:latin typeface="Calibri" pitchFamily="34" charset="0"/>
                          <a:ea typeface="Calibri" pitchFamily="34" charset="-122"/>
                          <a:cs typeface="Calibri" pitchFamily="34" charset="-120"/>
                        </a:rPr>
                        <a:t>Others loaded</a:t>
                      </a:r>
                      <a:endParaRPr lang="en-US" sz="13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marL="0" indent="0">
                        <a:buNone/>
                      </a:pPr>
                      <a:r>
                        <a:rPr lang="en-US" sz="1300" dirty="0">
                          <a:solidFill>
                            <a:srgbClr val="22303C"/>
                          </a:solidFill>
                          <a:latin typeface="Calibri" pitchFamily="34" charset="0"/>
                          <a:ea typeface="Calibri" pitchFamily="34" charset="-122"/>
                          <a:cs typeface="Calibri" pitchFamily="34" charset="-120"/>
                        </a:rPr>
                        <a:t>T2M_MIN, T2MDEW, WS2M, PRECTOTCORR</a:t>
                      </a:r>
                      <a:endParaRPr lang="en-US" sz="13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marL="0" indent="0">
              <a:buNone/>
            </a:pPr>
            <a:r>
              <a:rPr lang="en-US" sz="3400" b="1" dirty="0">
                <a:solidFill>
                  <a:srgbClr val="14213D"/>
                </a:solidFill>
                <a:latin typeface="Cambria" pitchFamily="34" charset="0"/>
                <a:ea typeface="Cambria" pitchFamily="34" charset="-122"/>
                <a:cs typeface="Cambria" pitchFamily="34" charset="-120"/>
              </a:rPr>
              <a:t>Data Collection &amp; Understanding</a:t>
            </a:r>
            <a:endParaRPr lang="en-US" sz="3400" dirty="0"/>
          </a:p>
        </p:txBody>
      </p:sp>
      <p:sp>
        <p:nvSpPr>
          <p:cNvPr id="3" name="Text 1"/>
          <p:cNvSpPr txBox="1"/>
          <p:nvPr/>
        </p:nvSpPr>
        <p:spPr>
          <a:xfrm>
            <a:off x="548640" y="1417320"/>
            <a:ext cx="5760720" cy="4754880"/>
          </a:xfrm>
          <a:prstGeom prst="rect">
            <a:avLst/>
          </a:prstGeom>
          <a:noFill/>
          <a:ln/>
        </p:spPr>
        <p:txBody>
          <a:bodyPr wrap="square" lIns="0" tIns="0" rIns="0" bIns="0" rtlCol="0" anchor="t"/>
          <a:lstStyle/>
          <a:p>
            <a:pPr marL="342900" indent="-342900">
              <a:spcAft>
                <a:spcPts val="900"/>
              </a:spcAft>
              <a:buSzPct val="100000"/>
              <a:buChar char="•"/>
            </a:pPr>
            <a:r>
              <a:rPr lang="en-US" sz="1600" b="1" dirty="0">
                <a:solidFill>
                  <a:srgbClr val="22303C"/>
                </a:solidFill>
                <a:latin typeface="Calibri" pitchFamily="34" charset="0"/>
                <a:ea typeface="Calibri" pitchFamily="34" charset="-122"/>
                <a:cs typeface="Calibri" pitchFamily="34" charset="-120"/>
              </a:rPr>
              <a:t>Source: </a:t>
            </a:r>
            <a:r>
              <a:rPr lang="en-US" sz="1600" dirty="0">
                <a:solidFill>
                  <a:srgbClr val="22303C"/>
                </a:solidFill>
                <a:latin typeface="Calibri" pitchFamily="34" charset="0"/>
                <a:ea typeface="Calibri" pitchFamily="34" charset="-122"/>
                <a:cs typeface="Calibri" pitchFamily="34" charset="-120"/>
              </a:rPr>
              <a:t>daily CSVs for six cities downloaded from the NASA POWER Data Access Viewer</a:t>
            </a:r>
            <a:endParaRPr lang="en-US" sz="1600" dirty="0"/>
          </a:p>
          <a:p>
            <a:pPr marL="342900" indent="-342900">
              <a:spcAft>
                <a:spcPts val="900"/>
              </a:spcAft>
              <a:buSzPct val="100000"/>
              <a:buChar char="•"/>
            </a:pPr>
            <a:r>
              <a:rPr lang="en-US" sz="1600" b="1" dirty="0">
                <a:solidFill>
                  <a:srgbClr val="22303C"/>
                </a:solidFill>
                <a:latin typeface="Calibri" pitchFamily="34" charset="0"/>
                <a:ea typeface="Calibri" pitchFamily="34" charset="-122"/>
                <a:cs typeface="Calibri" pitchFamily="34" charset="-120"/>
              </a:rPr>
              <a:t>Loading: </a:t>
            </a:r>
            <a:r>
              <a:rPr lang="en-US" sz="1600" dirty="0">
                <a:solidFill>
                  <a:srgbClr val="22303C"/>
                </a:solidFill>
                <a:latin typeface="Calibri" pitchFamily="34" charset="0"/>
                <a:ea typeface="Calibri" pitchFamily="34" charset="-122"/>
                <a:cs typeface="Calibri" pitchFamily="34" charset="-120"/>
              </a:rPr>
              <a:t>read with pandas (skiprows=16 skips the metadata header)</a:t>
            </a:r>
            <a:endParaRPr lang="en-US" sz="1600" dirty="0"/>
          </a:p>
          <a:p>
            <a:pPr marL="342900" indent="-342900">
              <a:spcAft>
                <a:spcPts val="900"/>
              </a:spcAft>
              <a:buSzPct val="100000"/>
              <a:buChar char="•"/>
            </a:pPr>
            <a:r>
              <a:rPr lang="en-US" sz="1600" b="1" dirty="0">
                <a:solidFill>
                  <a:srgbClr val="22303C"/>
                </a:solidFill>
                <a:latin typeface="Calibri" pitchFamily="34" charset="0"/>
                <a:ea typeface="Calibri" pitchFamily="34" charset="-122"/>
                <a:cs typeface="Calibri" pitchFamily="34" charset="-120"/>
              </a:rPr>
              <a:t>Data types: </a:t>
            </a:r>
            <a:r>
              <a:rPr lang="en-US" sz="1600" dirty="0">
                <a:solidFill>
                  <a:srgbClr val="22303C"/>
                </a:solidFill>
                <a:latin typeface="Calibri" pitchFamily="34" charset="0"/>
                <a:ea typeface="Calibri" pitchFamily="34" charset="-122"/>
                <a:cs typeface="Calibri" pitchFamily="34" charset="-120"/>
              </a:rPr>
              <a:t>8 float64, 2 int64 (year, day of year), 1 object (city)</a:t>
            </a:r>
            <a:endParaRPr lang="en-US" sz="1600" dirty="0"/>
          </a:p>
          <a:p>
            <a:pPr marL="342900" indent="-342900">
              <a:spcAft>
                <a:spcPts val="900"/>
              </a:spcAft>
              <a:buSzPct val="100000"/>
              <a:buChar char="•"/>
            </a:pPr>
            <a:r>
              <a:rPr lang="en-US" sz="1600" b="1" dirty="0">
                <a:solidFill>
                  <a:srgbClr val="22303C"/>
                </a:solidFill>
                <a:latin typeface="Calibri" pitchFamily="34" charset="0"/>
                <a:ea typeface="Calibri" pitchFamily="34" charset="-122"/>
                <a:cs typeface="Calibri" pitchFamily="34" charset="-120"/>
              </a:rPr>
              <a:t>Missing values: </a:t>
            </a:r>
            <a:r>
              <a:rPr lang="en-US" sz="1600" dirty="0">
                <a:solidFill>
                  <a:srgbClr val="22303C"/>
                </a:solidFill>
                <a:latin typeface="Calibri" pitchFamily="34" charset="0"/>
                <a:ea typeface="Calibri" pitchFamily="34" charset="-122"/>
                <a:cs typeface="Calibri" pitchFamily="34" charset="-120"/>
              </a:rPr>
              <a:t>none: 35,064 non-null in every column, no −999 codes</a:t>
            </a:r>
            <a:endParaRPr lang="en-US" sz="1600" dirty="0"/>
          </a:p>
          <a:p>
            <a:pPr marL="342900" indent="-342900">
              <a:spcAft>
                <a:spcPts val="900"/>
              </a:spcAft>
              <a:buSzPct val="100000"/>
              <a:buChar char="•"/>
            </a:pPr>
            <a:r>
              <a:rPr lang="en-US" sz="1600" b="1" dirty="0">
                <a:solidFill>
                  <a:srgbClr val="22303C"/>
                </a:solidFill>
                <a:latin typeface="Calibri" pitchFamily="34" charset="0"/>
                <a:ea typeface="Calibri" pitchFamily="34" charset="-122"/>
                <a:cs typeface="Calibri" pitchFamily="34" charset="-120"/>
              </a:rPr>
              <a:t>Duplicates: </a:t>
            </a:r>
            <a:r>
              <a:rPr lang="en-US" sz="1600" dirty="0">
                <a:solidFill>
                  <a:srgbClr val="22303C"/>
                </a:solidFill>
                <a:latin typeface="Calibri" pitchFamily="34" charset="0"/>
                <a:ea typeface="Calibri" pitchFamily="34" charset="-122"/>
                <a:cs typeface="Calibri" pitchFamily="34" charset="-120"/>
              </a:rPr>
              <a:t>0 duplicate city/year/day records</a:t>
            </a:r>
            <a:endParaRPr lang="en-US" sz="1600" dirty="0"/>
          </a:p>
          <a:p>
            <a:pPr marL="342900" indent="-342900">
              <a:spcAft>
                <a:spcPts val="900"/>
              </a:spcAft>
              <a:buSzPct val="100000"/>
              <a:buChar char="•"/>
            </a:pPr>
            <a:r>
              <a:rPr lang="en-US" sz="1600" b="1" dirty="0">
                <a:solidFill>
                  <a:srgbClr val="22303C"/>
                </a:solidFill>
                <a:latin typeface="Calibri" pitchFamily="34" charset="0"/>
                <a:ea typeface="Calibri" pitchFamily="34" charset="-122"/>
                <a:cs typeface="Calibri" pitchFamily="34" charset="-120"/>
              </a:rPr>
              <a:t>Coverage: </a:t>
            </a:r>
            <a:r>
              <a:rPr lang="en-US" sz="1600" dirty="0">
                <a:solidFill>
                  <a:srgbClr val="22303C"/>
                </a:solidFill>
                <a:latin typeface="Calibri" pitchFamily="34" charset="0"/>
                <a:ea typeface="Calibri" pitchFamily="34" charset="-122"/>
                <a:cs typeface="Calibri" pitchFamily="34" charset="-120"/>
              </a:rPr>
              <a:t>5,844 daily records per city, 2010-01-01 to 2025-12-31</a:t>
            </a:r>
            <a:endParaRPr lang="en-US" sz="1600" dirty="0"/>
          </a:p>
        </p:txBody>
      </p:sp>
      <p:pic>
        <p:nvPicPr>
          <p:cNvPr id="5" name="Picture 4">
            <a:extLst>
              <a:ext uri="{FF2B5EF4-FFF2-40B4-BE49-F238E27FC236}">
                <a16:creationId xmlns:a16="http://schemas.microsoft.com/office/drawing/2014/main" id="{6FA90A94-AD83-097B-27AB-9C5556076A4F}"/>
              </a:ext>
            </a:extLst>
          </p:cNvPr>
          <p:cNvPicPr>
            <a:picLocks noChangeAspect="1"/>
          </p:cNvPicPr>
          <p:nvPr/>
        </p:nvPicPr>
        <p:blipFill>
          <a:blip r:embed="rId3"/>
          <a:stretch>
            <a:fillRect/>
          </a:stretch>
        </p:blipFill>
        <p:spPr>
          <a:xfrm>
            <a:off x="6675120" y="1204727"/>
            <a:ext cx="4937760" cy="2524715"/>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9C3D7CA8-0352-82BD-A03A-770B2FEA5282}"/>
              </a:ext>
            </a:extLst>
          </p:cNvPr>
          <p:cNvPicPr>
            <a:picLocks noChangeAspect="1"/>
          </p:cNvPicPr>
          <p:nvPr/>
        </p:nvPicPr>
        <p:blipFill>
          <a:blip r:embed="rId4"/>
          <a:stretch>
            <a:fillRect/>
          </a:stretch>
        </p:blipFill>
        <p:spPr>
          <a:xfrm>
            <a:off x="6675120" y="4056085"/>
            <a:ext cx="4937760" cy="2254194"/>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marL="0" indent="0">
              <a:buNone/>
            </a:pPr>
            <a:r>
              <a:rPr lang="en-US" sz="3400" b="1" dirty="0">
                <a:solidFill>
                  <a:srgbClr val="14213D"/>
                </a:solidFill>
                <a:latin typeface="Cambria" pitchFamily="34" charset="0"/>
                <a:ea typeface="Cambria" pitchFamily="34" charset="-122"/>
                <a:cs typeface="Cambria" pitchFamily="34" charset="-120"/>
              </a:rPr>
              <a:t>Data Cleaning &amp; Transformation</a:t>
            </a:r>
            <a:endParaRPr lang="en-US" sz="3400" dirty="0"/>
          </a:p>
        </p:txBody>
      </p:sp>
      <p:sp>
        <p:nvSpPr>
          <p:cNvPr id="5" name="Text 3"/>
          <p:cNvSpPr txBox="1"/>
          <p:nvPr/>
        </p:nvSpPr>
        <p:spPr>
          <a:xfrm>
            <a:off x="5852160" y="1417320"/>
            <a:ext cx="5760720" cy="4114800"/>
          </a:xfrm>
          <a:prstGeom prst="rect">
            <a:avLst/>
          </a:prstGeom>
          <a:noFill/>
          <a:ln/>
        </p:spPr>
        <p:txBody>
          <a:bodyPr wrap="square" lIns="0" tIns="0" rIns="0" bIns="0" rtlCol="0" anchor="t"/>
          <a:lstStyle/>
          <a:p>
            <a:pPr marL="342900" indent="-342900">
              <a:spcAft>
                <a:spcPts val="900"/>
              </a:spcAft>
              <a:buSzPct val="100000"/>
              <a:buFont typeface="+mj-lt"/>
              <a:buAutoNum type="arabicPeriod"/>
            </a:pPr>
            <a:r>
              <a:rPr lang="en-US" sz="1500" dirty="0">
                <a:solidFill>
                  <a:srgbClr val="22303C"/>
                </a:solidFill>
                <a:latin typeface="Calibri" pitchFamily="34" charset="0"/>
                <a:ea typeface="Calibri" pitchFamily="34" charset="-122"/>
                <a:cs typeface="Calibri" pitchFamily="34" charset="-120"/>
              </a:rPr>
              <a:t>Combined the six city files into one DataFrame with a city column</a:t>
            </a:r>
            <a:endParaRPr lang="en-US" sz="1500" dirty="0"/>
          </a:p>
          <a:p>
            <a:pPr marL="342900" indent="-342900">
              <a:spcAft>
                <a:spcPts val="900"/>
              </a:spcAft>
              <a:buSzPct val="100000"/>
              <a:buFont typeface="+mj-lt"/>
              <a:buAutoNum type="arabicPeriod"/>
            </a:pPr>
            <a:r>
              <a:rPr lang="en-US" sz="1500" dirty="0">
                <a:solidFill>
                  <a:srgbClr val="22303C"/>
                </a:solidFill>
                <a:latin typeface="Calibri" pitchFamily="34" charset="0"/>
                <a:ea typeface="Calibri" pitchFamily="34" charset="-122"/>
                <a:cs typeface="Calibri" pitchFamily="34" charset="-120"/>
              </a:rPr>
              <a:t>Renamed columns (T2M → temperature, RH2M → humidity)</a:t>
            </a:r>
            <a:endParaRPr lang="en-US" sz="1500" dirty="0"/>
          </a:p>
          <a:p>
            <a:pPr marL="342900" indent="-342900">
              <a:spcAft>
                <a:spcPts val="900"/>
              </a:spcAft>
              <a:buSzPct val="100000"/>
              <a:buFont typeface="+mj-lt"/>
              <a:buAutoNum type="arabicPeriod"/>
            </a:pPr>
            <a:r>
              <a:rPr lang="en-US" sz="1500" dirty="0">
                <a:solidFill>
                  <a:srgbClr val="22303C"/>
                </a:solidFill>
                <a:latin typeface="Calibri" pitchFamily="34" charset="0"/>
                <a:ea typeface="Calibri" pitchFamily="34" charset="-122"/>
                <a:cs typeface="Calibri" pitchFamily="34" charset="-120"/>
              </a:rPr>
              <a:t>Dropped unused columns: min temperature, dew point, wind speed, precipitation</a:t>
            </a:r>
            <a:endParaRPr lang="en-US" sz="1500" dirty="0"/>
          </a:p>
          <a:p>
            <a:pPr marL="342900" indent="-342900">
              <a:spcAft>
                <a:spcPts val="900"/>
              </a:spcAft>
              <a:buSzPct val="100000"/>
              <a:buFont typeface="+mj-lt"/>
              <a:buAutoNum type="arabicPeriod"/>
            </a:pPr>
            <a:r>
              <a:rPr lang="en-US" sz="1500" dirty="0">
                <a:solidFill>
                  <a:srgbClr val="22303C"/>
                </a:solidFill>
                <a:latin typeface="Calibri" pitchFamily="34" charset="0"/>
                <a:ea typeface="Calibri" pitchFamily="34" charset="-122"/>
                <a:cs typeface="Calibri" pitchFamily="34" charset="-120"/>
              </a:rPr>
              <a:t>Built a date column from year + day of year</a:t>
            </a:r>
            <a:endParaRPr lang="en-US" sz="1500" dirty="0"/>
          </a:p>
          <a:p>
            <a:pPr marL="342900" indent="-342900">
              <a:spcAft>
                <a:spcPts val="900"/>
              </a:spcAft>
              <a:buSzPct val="100000"/>
              <a:buFont typeface="+mj-lt"/>
              <a:buAutoNum type="arabicPeriod"/>
            </a:pPr>
            <a:r>
              <a:rPr lang="en-US" sz="1500" dirty="0">
                <a:solidFill>
                  <a:srgbClr val="22303C"/>
                </a:solidFill>
                <a:latin typeface="Calibri" pitchFamily="34" charset="0"/>
                <a:ea typeface="Calibri" pitchFamily="34" charset="-122"/>
                <a:cs typeface="Calibri" pitchFamily="34" charset="-120"/>
              </a:rPr>
              <a:t>Validated: no −999 values, no duplicates, continuous daily dates</a:t>
            </a:r>
            <a:endParaRPr lang="en-US" sz="1500" dirty="0"/>
          </a:p>
          <a:p>
            <a:pPr marL="342900" indent="-342900">
              <a:spcAft>
                <a:spcPts val="900"/>
              </a:spcAft>
              <a:buSzPct val="100000"/>
              <a:buFont typeface="+mj-lt"/>
              <a:buAutoNum type="arabicPeriod"/>
            </a:pPr>
            <a:r>
              <a:rPr lang="en-US" sz="1500" dirty="0">
                <a:solidFill>
                  <a:srgbClr val="22303C"/>
                </a:solidFill>
                <a:latin typeface="Calibri" pitchFamily="34" charset="0"/>
                <a:ea typeface="Calibri" pitchFamily="34" charset="-122"/>
                <a:cs typeface="Calibri" pitchFamily="34" charset="-120"/>
              </a:rPr>
              <a:t>Created features: month, season, NWS Heat Index, risk category, hot day (≥ 40°C)</a:t>
            </a:r>
            <a:endParaRPr lang="en-US" sz="1500" dirty="0"/>
          </a:p>
          <a:p>
            <a:pPr marL="342900" indent="-342900">
              <a:spcAft>
                <a:spcPts val="900"/>
              </a:spcAft>
              <a:buSzPct val="100000"/>
              <a:buFont typeface="+mj-lt"/>
              <a:buAutoNum type="arabicPeriod"/>
            </a:pPr>
            <a:r>
              <a:rPr lang="en-US" sz="1500" dirty="0">
                <a:solidFill>
                  <a:srgbClr val="22303C"/>
                </a:solidFill>
                <a:latin typeface="Calibri" pitchFamily="34" charset="0"/>
                <a:ea typeface="Calibri" pitchFamily="34" charset="-122"/>
                <a:cs typeface="Calibri" pitchFamily="34" charset="-120"/>
              </a:rPr>
              <a:t>Exported the cleaned dataset (35,064 rows × 13 columns)</a:t>
            </a:r>
            <a:endParaRPr lang="en-US" sz="1500" dirty="0"/>
          </a:p>
        </p:txBody>
      </p:sp>
      <p:sp>
        <p:nvSpPr>
          <p:cNvPr id="6" name="Text 4"/>
          <p:cNvSpPr txBox="1"/>
          <p:nvPr/>
        </p:nvSpPr>
        <p:spPr>
          <a:xfrm>
            <a:off x="5852160" y="5623560"/>
            <a:ext cx="5760720" cy="457200"/>
          </a:xfrm>
          <a:prstGeom prst="rect">
            <a:avLst/>
          </a:prstGeom>
          <a:noFill/>
          <a:ln/>
        </p:spPr>
        <p:txBody>
          <a:bodyPr wrap="square" lIns="0" tIns="0" rIns="0" bIns="0" rtlCol="0" anchor="t"/>
          <a:lstStyle/>
          <a:p>
            <a:pPr marL="0" indent="0">
              <a:buNone/>
            </a:pPr>
            <a:r>
              <a:rPr lang="en-US" sz="1300" i="1" dirty="0">
                <a:solidFill>
                  <a:srgbClr val="5C6B7A"/>
                </a:solidFill>
                <a:latin typeface="Calibri" pitchFamily="34" charset="0"/>
                <a:ea typeface="Calibri" pitchFamily="34" charset="-122"/>
                <a:cs typeface="Calibri" pitchFamily="34" charset="-120"/>
              </a:rPr>
              <a:t>No imputation was needed because the data had no missing values.</a:t>
            </a:r>
            <a:endParaRPr lang="en-US" sz="1300" dirty="0"/>
          </a:p>
        </p:txBody>
      </p:sp>
      <p:pic>
        <p:nvPicPr>
          <p:cNvPr id="10" name="Picture 9">
            <a:extLst>
              <a:ext uri="{FF2B5EF4-FFF2-40B4-BE49-F238E27FC236}">
                <a16:creationId xmlns:a16="http://schemas.microsoft.com/office/drawing/2014/main" id="{AEF1C408-32A4-3408-6F88-9590A6129352}"/>
              </a:ext>
            </a:extLst>
          </p:cNvPr>
          <p:cNvPicPr>
            <a:picLocks noChangeAspect="1"/>
          </p:cNvPicPr>
          <p:nvPr/>
        </p:nvPicPr>
        <p:blipFill>
          <a:blip r:embed="rId3"/>
          <a:stretch>
            <a:fillRect/>
          </a:stretch>
        </p:blipFill>
        <p:spPr>
          <a:xfrm>
            <a:off x="408680" y="1478435"/>
            <a:ext cx="5210030" cy="444976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marL="0" indent="0">
              <a:buNone/>
            </a:pPr>
            <a:r>
              <a:rPr lang="en-US" sz="3400" b="1" dirty="0">
                <a:solidFill>
                  <a:srgbClr val="14213D"/>
                </a:solidFill>
                <a:latin typeface="Cambria" pitchFamily="34" charset="0"/>
                <a:ea typeface="Cambria" pitchFamily="34" charset="-122"/>
                <a:cs typeface="Cambria" pitchFamily="34" charset="-120"/>
              </a:rPr>
              <a:t>Exploratory Data Analysis</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035040" cy="3328416"/>
        </p:xfrm>
        <a:graphic>
          <a:graphicData uri="http://schemas.openxmlformats.org/drawingml/2006/table">
            <a:tbl>
              <a:tblPr/>
              <a:tblGrid>
                <a:gridCol w="14630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tblGrid>
              <a:tr h="475488">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City</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213D"/>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Hot days %</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213D"/>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Danger days %</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213D"/>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Temp rank</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213D"/>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HI rank</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75488">
                <a:tc>
                  <a:txBody>
                    <a:bodyPr/>
                    <a:lstStyle/>
                    <a:p>
                      <a:pPr marL="0" indent="0" algn="l">
                        <a:buNone/>
                      </a:pPr>
                      <a:r>
                        <a:rPr lang="en-US" sz="1400" dirty="0">
                          <a:solidFill>
                            <a:srgbClr val="22303C"/>
                          </a:solidFill>
                          <a:latin typeface="Calibri" pitchFamily="34" charset="0"/>
                          <a:ea typeface="Calibri" pitchFamily="34" charset="-122"/>
                          <a:cs typeface="Calibri" pitchFamily="34" charset="-120"/>
                        </a:rPr>
                        <a:t>Kolkata</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marL="0" indent="0" algn="ctr">
                        <a:buNone/>
                      </a:pPr>
                      <a:r>
                        <a:rPr lang="en-US" sz="1400" dirty="0">
                          <a:solidFill>
                            <a:srgbClr val="22303C"/>
                          </a:solidFill>
                          <a:latin typeface="Calibri" pitchFamily="34" charset="0"/>
                          <a:ea typeface="Calibri" pitchFamily="34" charset="-122"/>
                          <a:cs typeface="Calibri" pitchFamily="34" charset="-120"/>
                        </a:rPr>
                        <a:t>5.18</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marL="0" indent="0" algn="ctr">
                        <a:buNone/>
                      </a:pPr>
                      <a:r>
                        <a:rPr lang="en-US" sz="1400" dirty="0">
                          <a:solidFill>
                            <a:srgbClr val="22303C"/>
                          </a:solidFill>
                          <a:latin typeface="Calibri" pitchFamily="34" charset="0"/>
                          <a:ea typeface="Calibri" pitchFamily="34" charset="-122"/>
                          <a:cs typeface="Calibri" pitchFamily="34" charset="-120"/>
                        </a:rPr>
                        <a:t>5.72</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marL="0" indent="0" algn="ctr">
                        <a:buNone/>
                      </a:pPr>
                      <a:r>
                        <a:rPr lang="en-US" sz="1400" dirty="0">
                          <a:solidFill>
                            <a:srgbClr val="22303C"/>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marL="0" indent="0" algn="ctr">
                        <a:buNone/>
                      </a:pPr>
                      <a:r>
                        <a:rPr lang="en-US" sz="1400" dirty="0">
                          <a:solidFill>
                            <a:srgbClr val="22303C"/>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extLst>
                  <a:ext uri="{0D108BD9-81ED-4DB2-BD59-A6C34878D82A}">
                    <a16:rowId xmlns:a16="http://schemas.microsoft.com/office/drawing/2014/main" val="10001"/>
                  </a:ext>
                </a:extLst>
              </a:tr>
              <a:tr h="475488">
                <a:tc>
                  <a:txBody>
                    <a:bodyPr/>
                    <a:lstStyle/>
                    <a:p>
                      <a:pPr marL="0" indent="0" algn="l">
                        <a:buNone/>
                      </a:pPr>
                      <a:r>
                        <a:rPr lang="en-US" sz="1400" dirty="0">
                          <a:solidFill>
                            <a:srgbClr val="22303C"/>
                          </a:solidFill>
                          <a:latin typeface="Calibri" pitchFamily="34" charset="0"/>
                          <a:ea typeface="Calibri" pitchFamily="34" charset="-122"/>
                          <a:cs typeface="Calibri" pitchFamily="34" charset="-120"/>
                        </a:rPr>
                        <a:t>Delhi</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2303C"/>
                          </a:solidFill>
                          <a:latin typeface="Calibri" pitchFamily="34" charset="0"/>
                          <a:ea typeface="Calibri" pitchFamily="34" charset="-122"/>
                          <a:cs typeface="Calibri" pitchFamily="34" charset="-120"/>
                        </a:rPr>
                        <a:t>17.64</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2303C"/>
                          </a:solidFill>
                          <a:latin typeface="Calibri" pitchFamily="34" charset="0"/>
                          <a:ea typeface="Calibri" pitchFamily="34" charset="-122"/>
                          <a:cs typeface="Calibri" pitchFamily="34" charset="-120"/>
                        </a:rPr>
                        <a:t>4.48</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2303C"/>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2303C"/>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lgn="l">
                        <a:buNone/>
                      </a:pPr>
                      <a:r>
                        <a:rPr lang="en-US" sz="1400" dirty="0">
                          <a:solidFill>
                            <a:srgbClr val="22303C"/>
                          </a:solidFill>
                          <a:latin typeface="Calibri" pitchFamily="34" charset="0"/>
                          <a:ea typeface="Calibri" pitchFamily="34" charset="-122"/>
                          <a:cs typeface="Calibri" pitchFamily="34" charset="-120"/>
                        </a:rPr>
                        <a:t>Ahmedabad</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marL="0" indent="0" algn="ctr">
                        <a:buNone/>
                      </a:pPr>
                      <a:r>
                        <a:rPr lang="en-US" sz="1400" dirty="0">
                          <a:solidFill>
                            <a:srgbClr val="22303C"/>
                          </a:solidFill>
                          <a:latin typeface="Calibri" pitchFamily="34" charset="0"/>
                          <a:ea typeface="Calibri" pitchFamily="34" charset="-122"/>
                          <a:cs typeface="Calibri" pitchFamily="34" charset="-120"/>
                        </a:rPr>
                        <a:t>20.74</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marL="0" indent="0" algn="ctr">
                        <a:buNone/>
                      </a:pPr>
                      <a:r>
                        <a:rPr lang="en-US" sz="1400" dirty="0">
                          <a:solidFill>
                            <a:srgbClr val="22303C"/>
                          </a:solidFill>
                          <a:latin typeface="Calibri" pitchFamily="34" charset="0"/>
                          <a:ea typeface="Calibri" pitchFamily="34" charset="-122"/>
                          <a:cs typeface="Calibri" pitchFamily="34" charset="-120"/>
                        </a:rPr>
                        <a:t>3.95</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marL="0" indent="0" algn="ctr">
                        <a:buNone/>
                      </a:pPr>
                      <a:r>
                        <a:rPr lang="en-US" sz="1400" dirty="0">
                          <a:solidFill>
                            <a:srgbClr val="22303C"/>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marL="0" indent="0" algn="ctr">
                        <a:buNone/>
                      </a:pPr>
                      <a:r>
                        <a:rPr lang="en-US" sz="1400" dirty="0">
                          <a:solidFill>
                            <a:srgbClr val="22303C"/>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extLst>
                  <a:ext uri="{0D108BD9-81ED-4DB2-BD59-A6C34878D82A}">
                    <a16:rowId xmlns:a16="http://schemas.microsoft.com/office/drawing/2014/main" val="10003"/>
                  </a:ext>
                </a:extLst>
              </a:tr>
              <a:tr h="475488">
                <a:tc>
                  <a:txBody>
                    <a:bodyPr/>
                    <a:lstStyle/>
                    <a:p>
                      <a:pPr marL="0" indent="0" algn="l">
                        <a:buNone/>
                      </a:pPr>
                      <a:r>
                        <a:rPr lang="en-US" sz="1400" dirty="0">
                          <a:solidFill>
                            <a:srgbClr val="22303C"/>
                          </a:solidFill>
                          <a:latin typeface="Calibri" pitchFamily="34" charset="0"/>
                          <a:ea typeface="Calibri" pitchFamily="34" charset="-122"/>
                          <a:cs typeface="Calibri" pitchFamily="34" charset="-120"/>
                        </a:rPr>
                        <a:t>Chennai</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2303C"/>
                          </a:solidFill>
                          <a:latin typeface="Calibri" pitchFamily="34" charset="0"/>
                          <a:ea typeface="Calibri" pitchFamily="34" charset="-122"/>
                          <a:cs typeface="Calibri" pitchFamily="34" charset="-120"/>
                        </a:rPr>
                        <a:t>0.56</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2303C"/>
                          </a:solidFill>
                          <a:latin typeface="Calibri" pitchFamily="34" charset="0"/>
                          <a:ea typeface="Calibri" pitchFamily="34" charset="-122"/>
                          <a:cs typeface="Calibri" pitchFamily="34" charset="-120"/>
                        </a:rPr>
                        <a:t>1.30</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2303C"/>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2303C"/>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lgn="l">
                        <a:buNone/>
                      </a:pPr>
                      <a:r>
                        <a:rPr lang="en-US" sz="1400" dirty="0">
                          <a:solidFill>
                            <a:srgbClr val="22303C"/>
                          </a:solidFill>
                          <a:latin typeface="Calibri" pitchFamily="34" charset="0"/>
                          <a:ea typeface="Calibri" pitchFamily="34" charset="-122"/>
                          <a:cs typeface="Calibri" pitchFamily="34" charset="-120"/>
                        </a:rPr>
                        <a:t>Mumbai</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marL="0" indent="0" algn="ctr">
                        <a:buNone/>
                      </a:pPr>
                      <a:r>
                        <a:rPr lang="en-US" sz="1400" dirty="0">
                          <a:solidFill>
                            <a:srgbClr val="22303C"/>
                          </a:solidFill>
                          <a:latin typeface="Calibri" pitchFamily="34" charset="0"/>
                          <a:ea typeface="Calibri" pitchFamily="34" charset="-122"/>
                          <a:cs typeface="Calibri" pitchFamily="34" charset="-120"/>
                        </a:rPr>
                        <a:t>6.47</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marL="0" indent="0" algn="ctr">
                        <a:buNone/>
                      </a:pPr>
                      <a:r>
                        <a:rPr lang="en-US" sz="1400" dirty="0">
                          <a:solidFill>
                            <a:srgbClr val="22303C"/>
                          </a:solidFill>
                          <a:latin typeface="Calibri" pitchFamily="34" charset="0"/>
                          <a:ea typeface="Calibri" pitchFamily="34" charset="-122"/>
                          <a:cs typeface="Calibri" pitchFamily="34" charset="-120"/>
                        </a:rPr>
                        <a:t>0.17</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marL="0" indent="0" algn="ctr">
                        <a:buNone/>
                      </a:pPr>
                      <a:r>
                        <a:rPr lang="en-US" sz="1400" dirty="0">
                          <a:solidFill>
                            <a:srgbClr val="22303C"/>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tc>
                  <a:txBody>
                    <a:bodyPr/>
                    <a:lstStyle/>
                    <a:p>
                      <a:pPr marL="0" indent="0" algn="ctr">
                        <a:buNone/>
                      </a:pPr>
                      <a:r>
                        <a:rPr lang="en-US" sz="1400" dirty="0">
                          <a:solidFill>
                            <a:srgbClr val="22303C"/>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EF2F6"/>
                    </a:solidFill>
                  </a:tcPr>
                </a:tc>
                <a:extLst>
                  <a:ext uri="{0D108BD9-81ED-4DB2-BD59-A6C34878D82A}">
                    <a16:rowId xmlns:a16="http://schemas.microsoft.com/office/drawing/2014/main" val="10005"/>
                  </a:ext>
                </a:extLst>
              </a:tr>
              <a:tr h="475488">
                <a:tc>
                  <a:txBody>
                    <a:bodyPr/>
                    <a:lstStyle/>
                    <a:p>
                      <a:pPr marL="0" indent="0" algn="l">
                        <a:buNone/>
                      </a:pPr>
                      <a:r>
                        <a:rPr lang="en-US" sz="1400" dirty="0">
                          <a:solidFill>
                            <a:srgbClr val="22303C"/>
                          </a:solidFill>
                          <a:latin typeface="Calibri" pitchFamily="34" charset="0"/>
                          <a:ea typeface="Calibri" pitchFamily="34" charset="-122"/>
                          <a:cs typeface="Calibri" pitchFamily="34" charset="-120"/>
                        </a:rPr>
                        <a:t>Bengaluru</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2303C"/>
                          </a:solidFill>
                          <a:latin typeface="Calibri" pitchFamily="34" charset="0"/>
                          <a:ea typeface="Calibri" pitchFamily="34" charset="-122"/>
                          <a:cs typeface="Calibri" pitchFamily="34" charset="-120"/>
                        </a:rPr>
                        <a:t>0.09</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2303C"/>
                          </a:solidFill>
                          <a:latin typeface="Calibri" pitchFamily="34" charset="0"/>
                          <a:ea typeface="Calibri" pitchFamily="34" charset="-122"/>
                          <a:cs typeface="Calibri" pitchFamily="34" charset="-120"/>
                        </a:rPr>
                        <a:t>0.00</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2303C"/>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2303C"/>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548640" y="4937760"/>
            <a:ext cx="6035040" cy="548640"/>
          </a:xfrm>
          <a:prstGeom prst="rect">
            <a:avLst/>
          </a:prstGeom>
          <a:noFill/>
          <a:ln/>
        </p:spPr>
        <p:txBody>
          <a:bodyPr wrap="square" lIns="0" tIns="0" rIns="0" bIns="0" rtlCol="0" anchor="t"/>
          <a:lstStyle/>
          <a:p>
            <a:pPr marL="0" indent="0">
              <a:buNone/>
            </a:pPr>
            <a:r>
              <a:rPr lang="en-US" sz="1200" i="1" dirty="0">
                <a:solidFill>
                  <a:srgbClr val="5C6B7A"/>
                </a:solidFill>
                <a:latin typeface="Calibri" pitchFamily="34" charset="0"/>
                <a:ea typeface="Calibri" pitchFamily="34" charset="-122"/>
                <a:cs typeface="Calibri" pitchFamily="34" charset="-120"/>
              </a:rPr>
              <a:t>Hot day = maximum temperature ≥ 40°C. Danger day = Heat Index ≥ 39.4°C. Ranks: 1 = highest.</a:t>
            </a:r>
            <a:endParaRPr lang="en-US" sz="1200" dirty="0"/>
          </a:p>
        </p:txBody>
      </p:sp>
      <p:sp>
        <p:nvSpPr>
          <p:cNvPr id="5" name="Text 2"/>
          <p:cNvSpPr txBox="1"/>
          <p:nvPr/>
        </p:nvSpPr>
        <p:spPr>
          <a:xfrm>
            <a:off x="548640" y="5577840"/>
            <a:ext cx="6035040" cy="365760"/>
          </a:xfrm>
          <a:prstGeom prst="rect">
            <a:avLst/>
          </a:prstGeom>
          <a:noFill/>
          <a:ln/>
        </p:spPr>
        <p:txBody>
          <a:bodyPr wrap="square" lIns="0" tIns="0" rIns="0" bIns="0" rtlCol="0" anchor="t"/>
          <a:lstStyle/>
          <a:p>
            <a:pPr marL="0" indent="0">
              <a:buNone/>
            </a:pPr>
            <a:r>
              <a:rPr lang="en-US" sz="1400" b="1" dirty="0">
                <a:solidFill>
                  <a:srgbClr val="14213D"/>
                </a:solidFill>
                <a:latin typeface="Calibri" pitchFamily="34" charset="0"/>
                <a:ea typeface="Calibri" pitchFamily="34" charset="-122"/>
                <a:cs typeface="Calibri" pitchFamily="34" charset="-120"/>
              </a:rPr>
              <a:t>Libraries: pandas · NumPy · SciPy · Matplotlib</a:t>
            </a:r>
            <a:endParaRPr lang="en-US" sz="1400" dirty="0"/>
          </a:p>
        </p:txBody>
      </p:sp>
      <p:sp>
        <p:nvSpPr>
          <p:cNvPr id="6" name="Text 3"/>
          <p:cNvSpPr txBox="1"/>
          <p:nvPr/>
        </p:nvSpPr>
        <p:spPr>
          <a:xfrm>
            <a:off x="6949440" y="1417320"/>
            <a:ext cx="4663440" cy="365760"/>
          </a:xfrm>
          <a:prstGeom prst="rect">
            <a:avLst/>
          </a:prstGeom>
          <a:noFill/>
          <a:ln/>
        </p:spPr>
        <p:txBody>
          <a:bodyPr wrap="square" lIns="0" tIns="0" rIns="0" bIns="0" rtlCol="0" anchor="t"/>
          <a:lstStyle/>
          <a:p>
            <a:pPr marL="0" indent="0">
              <a:buNone/>
            </a:pPr>
            <a:r>
              <a:rPr lang="en-US" sz="2000" b="1" dirty="0">
                <a:solidFill>
                  <a:srgbClr val="14213D"/>
                </a:solidFill>
                <a:latin typeface="Cambria" pitchFamily="34" charset="0"/>
                <a:ea typeface="Cambria" pitchFamily="34" charset="-122"/>
                <a:cs typeface="Cambria" pitchFamily="34" charset="-120"/>
              </a:rPr>
              <a:t>Key findings</a:t>
            </a:r>
            <a:endParaRPr lang="en-US" sz="2000" dirty="0"/>
          </a:p>
        </p:txBody>
      </p:sp>
      <p:sp>
        <p:nvSpPr>
          <p:cNvPr id="7" name="Text 4"/>
          <p:cNvSpPr txBox="1"/>
          <p:nvPr/>
        </p:nvSpPr>
        <p:spPr>
          <a:xfrm>
            <a:off x="6949440" y="2011680"/>
            <a:ext cx="4663440" cy="402336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22303C"/>
                </a:solidFill>
                <a:latin typeface="Calibri" pitchFamily="34" charset="0"/>
                <a:ea typeface="Calibri" pitchFamily="34" charset="-122"/>
                <a:cs typeface="Calibri" pitchFamily="34" charset="-120"/>
              </a:rPr>
              <a:t>Chennai has the highest mean Heat Index (31.06°C); about 75% of its days are above Safe.</a:t>
            </a:r>
            <a:endParaRPr lang="en-US" sz="1400" dirty="0"/>
          </a:p>
          <a:p>
            <a:pPr marL="342900" indent="-342900">
              <a:spcAft>
                <a:spcPts val="900"/>
              </a:spcAft>
              <a:buSzPct val="100000"/>
              <a:buChar char="•"/>
            </a:pPr>
            <a:r>
              <a:rPr lang="en-US" sz="1400" dirty="0">
                <a:solidFill>
                  <a:srgbClr val="22303C"/>
                </a:solidFill>
                <a:latin typeface="Calibri" pitchFamily="34" charset="0"/>
                <a:ea typeface="Calibri" pitchFamily="34" charset="-122"/>
                <a:cs typeface="Calibri" pitchFamily="34" charset="-120"/>
              </a:rPr>
              <a:t>Kolkata reaches the highest peak (45.85°C).</a:t>
            </a:r>
            <a:endParaRPr lang="en-US" sz="1400" dirty="0"/>
          </a:p>
          <a:p>
            <a:pPr marL="342900" indent="-342900">
              <a:spcAft>
                <a:spcPts val="900"/>
              </a:spcAft>
              <a:buSzPct val="100000"/>
              <a:buChar char="•"/>
            </a:pPr>
            <a:r>
              <a:rPr lang="en-US" sz="1400" dirty="0">
                <a:solidFill>
                  <a:srgbClr val="22303C"/>
                </a:solidFill>
                <a:latin typeface="Calibri" pitchFamily="34" charset="0"/>
                <a:ea typeface="Calibri" pitchFamily="34" charset="-122"/>
                <a:cs typeface="Calibri" pitchFamily="34" charset="-120"/>
              </a:rPr>
              <a:t>Delhi's Danger share is 10.05% in monsoon vs 5.84% in summer.</a:t>
            </a:r>
            <a:endParaRPr lang="en-US" sz="1400" dirty="0"/>
          </a:p>
          <a:p>
            <a:pPr marL="342900" indent="-342900">
              <a:spcAft>
                <a:spcPts val="900"/>
              </a:spcAft>
              <a:buSzPct val="100000"/>
              <a:buChar char="•"/>
            </a:pPr>
            <a:r>
              <a:rPr lang="en-US" sz="1400" dirty="0">
                <a:solidFill>
                  <a:srgbClr val="22303C"/>
                </a:solidFill>
                <a:latin typeface="Calibri" pitchFamily="34" charset="0"/>
                <a:ea typeface="Calibri" pitchFamily="34" charset="-122"/>
                <a:cs typeface="Calibri" pitchFamily="34" charset="-120"/>
              </a:rPr>
              <a:t>Heat Index and wet-bulb temperature correlate at 0.89.</a:t>
            </a:r>
            <a:endParaRPr lang="en-US" sz="1400" dirty="0"/>
          </a:p>
          <a:p>
            <a:pPr marL="342900" indent="-342900">
              <a:spcAft>
                <a:spcPts val="900"/>
              </a:spcAft>
              <a:buSzPct val="100000"/>
              <a:buChar char="•"/>
            </a:pPr>
            <a:r>
              <a:rPr lang="en-US" sz="1400" dirty="0">
                <a:solidFill>
                  <a:srgbClr val="22303C"/>
                </a:solidFill>
                <a:latin typeface="Calibri" pitchFamily="34" charset="0"/>
                <a:ea typeface="Calibri" pitchFamily="34" charset="-122"/>
                <a:cs typeface="Calibri" pitchFamily="34" charset="-120"/>
              </a:rPr>
              <a:t>No city shows a significant trend (Chennai +0.039°C/yr, p = 0.081).</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marL="0" indent="0">
              <a:buNone/>
            </a:pPr>
            <a:r>
              <a:rPr lang="en-US" sz="3400" b="1" dirty="0">
                <a:solidFill>
                  <a:srgbClr val="14213D"/>
                </a:solidFill>
                <a:latin typeface="Cambria" pitchFamily="34" charset="0"/>
                <a:ea typeface="Cambria" pitchFamily="34" charset="-122"/>
                <a:cs typeface="Cambria" pitchFamily="34" charset="-120"/>
              </a:rPr>
              <a:t>Data Visualization</a:t>
            </a:r>
            <a:endParaRPr lang="en-US" sz="3400" dirty="0"/>
          </a:p>
        </p:txBody>
      </p:sp>
      <p:sp>
        <p:nvSpPr>
          <p:cNvPr id="3" name="Shape 1"/>
          <p:cNvSpPr/>
          <p:nvPr/>
        </p:nvSpPr>
        <p:spPr>
          <a:xfrm>
            <a:off x="548640" y="1325880"/>
            <a:ext cx="5458968" cy="2331720"/>
          </a:xfrm>
          <a:prstGeom prst="roundRect">
            <a:avLst>
              <a:gd name="adj" fmla="val 4706"/>
            </a:avLst>
          </a:prstGeom>
          <a:solidFill>
            <a:srgbClr val="EEF2F6"/>
          </a:solidFill>
          <a:ln w="12700">
            <a:solidFill>
              <a:srgbClr val="EEF2F6"/>
            </a:solidFill>
            <a:prstDash val="solid"/>
          </a:ln>
        </p:spPr>
      </p:sp>
      <p:sp>
        <p:nvSpPr>
          <p:cNvPr id="6" name="Text 4"/>
          <p:cNvSpPr txBox="1"/>
          <p:nvPr/>
        </p:nvSpPr>
        <p:spPr>
          <a:xfrm>
            <a:off x="4005072" y="1692402"/>
            <a:ext cx="1920240" cy="2103120"/>
          </a:xfrm>
          <a:prstGeom prst="rect">
            <a:avLst/>
          </a:prstGeom>
          <a:noFill/>
          <a:ln/>
        </p:spPr>
        <p:txBody>
          <a:bodyPr wrap="square" lIns="0" tIns="0" rIns="0" bIns="0" rtlCol="0" anchor="t"/>
          <a:lstStyle/>
          <a:p>
            <a:pPr marL="0" indent="0">
              <a:spcAft>
                <a:spcPts val="600"/>
              </a:spcAft>
              <a:buNone/>
            </a:pPr>
            <a:r>
              <a:rPr lang="en-US" sz="1200" b="1" dirty="0">
                <a:solidFill>
                  <a:srgbClr val="14213D"/>
                </a:solidFill>
                <a:latin typeface="Calibri" pitchFamily="34" charset="0"/>
                <a:ea typeface="Calibri" pitchFamily="34" charset="-122"/>
                <a:cs typeface="Calibri" pitchFamily="34" charset="-120"/>
              </a:rPr>
              <a:t>Heat Index by City (boxplot)</a:t>
            </a:r>
            <a:endParaRPr lang="en-US" sz="1100" dirty="0"/>
          </a:p>
          <a:p>
            <a:pPr marL="0" indent="0">
              <a:buNone/>
            </a:pPr>
            <a:r>
              <a:rPr lang="en-US" sz="1100" b="1" dirty="0">
                <a:solidFill>
                  <a:srgbClr val="22303C"/>
                </a:solidFill>
                <a:latin typeface="Calibri" pitchFamily="34" charset="0"/>
                <a:ea typeface="Calibri" pitchFamily="34" charset="-122"/>
                <a:cs typeface="Calibri" pitchFamily="34" charset="-120"/>
              </a:rPr>
              <a:t>Purpose: </a:t>
            </a:r>
            <a:r>
              <a:rPr lang="en-US" sz="1100" dirty="0">
                <a:solidFill>
                  <a:srgbClr val="22303C"/>
                </a:solidFill>
                <a:latin typeface="Calibri" pitchFamily="34" charset="0"/>
                <a:ea typeface="Calibri" pitchFamily="34" charset="-122"/>
                <a:cs typeface="Calibri" pitchFamily="34" charset="-120"/>
              </a:rPr>
              <a:t>Compare Heat Index spread</a:t>
            </a:r>
            <a:endParaRPr lang="en-US" sz="1100" dirty="0"/>
          </a:p>
          <a:p>
            <a:pPr marL="0" indent="0">
              <a:buNone/>
            </a:pPr>
            <a:r>
              <a:rPr lang="en-US" sz="1100" b="1" dirty="0">
                <a:solidFill>
                  <a:srgbClr val="22303C"/>
                </a:solidFill>
                <a:latin typeface="Calibri" pitchFamily="34" charset="0"/>
                <a:ea typeface="Calibri" pitchFamily="34" charset="-122"/>
                <a:cs typeface="Calibri" pitchFamily="34" charset="-120"/>
              </a:rPr>
              <a:t>Shows: </a:t>
            </a:r>
            <a:r>
              <a:rPr lang="en-US" sz="1100" dirty="0">
                <a:solidFill>
                  <a:srgbClr val="22303C"/>
                </a:solidFill>
                <a:latin typeface="Calibri" pitchFamily="34" charset="0"/>
                <a:ea typeface="Calibri" pitchFamily="34" charset="-122"/>
                <a:cs typeface="Calibri" pitchFamily="34" charset="-120"/>
              </a:rPr>
              <a:t>Median, range and extremes per city</a:t>
            </a:r>
            <a:endParaRPr lang="en-US" sz="1100" dirty="0"/>
          </a:p>
          <a:p>
            <a:pPr marL="0" indent="0">
              <a:buNone/>
            </a:pPr>
            <a:r>
              <a:rPr lang="en-US" sz="1100" b="1" dirty="0">
                <a:solidFill>
                  <a:srgbClr val="E4572E"/>
                </a:solidFill>
                <a:latin typeface="Calibri" pitchFamily="34" charset="0"/>
                <a:ea typeface="Calibri" pitchFamily="34" charset="-122"/>
                <a:cs typeface="Calibri" pitchFamily="34" charset="-120"/>
              </a:rPr>
              <a:t>Insight: </a:t>
            </a:r>
            <a:r>
              <a:rPr lang="en-US" sz="1100" dirty="0">
                <a:solidFill>
                  <a:srgbClr val="22303C"/>
                </a:solidFill>
                <a:latin typeface="Calibri" pitchFamily="34" charset="0"/>
                <a:ea typeface="Calibri" pitchFamily="34" charset="-122"/>
                <a:cs typeface="Calibri" pitchFamily="34" charset="-120"/>
              </a:rPr>
              <a:t>Kolkata and Delhi peak highest; Bengaluru is lowest and most stable</a:t>
            </a:r>
            <a:endParaRPr lang="en-US" sz="1100" dirty="0"/>
          </a:p>
        </p:txBody>
      </p:sp>
      <p:sp>
        <p:nvSpPr>
          <p:cNvPr id="7" name="Shape 5"/>
          <p:cNvSpPr/>
          <p:nvPr/>
        </p:nvSpPr>
        <p:spPr>
          <a:xfrm>
            <a:off x="6153912" y="1325880"/>
            <a:ext cx="5458968" cy="2331720"/>
          </a:xfrm>
          <a:prstGeom prst="roundRect">
            <a:avLst>
              <a:gd name="adj" fmla="val 4706"/>
            </a:avLst>
          </a:prstGeom>
          <a:solidFill>
            <a:srgbClr val="EEF2F6"/>
          </a:solidFill>
          <a:ln w="12700">
            <a:solidFill>
              <a:srgbClr val="EEF2F6"/>
            </a:solidFill>
            <a:prstDash val="solid"/>
          </a:ln>
        </p:spPr>
      </p:sp>
      <p:sp>
        <p:nvSpPr>
          <p:cNvPr id="10" name="Text 8"/>
          <p:cNvSpPr txBox="1"/>
          <p:nvPr/>
        </p:nvSpPr>
        <p:spPr>
          <a:xfrm>
            <a:off x="9610344" y="1692402"/>
            <a:ext cx="1920240" cy="2103120"/>
          </a:xfrm>
          <a:prstGeom prst="rect">
            <a:avLst/>
          </a:prstGeom>
          <a:noFill/>
          <a:ln/>
        </p:spPr>
        <p:txBody>
          <a:bodyPr wrap="square" lIns="0" tIns="0" rIns="0" bIns="0" rtlCol="0" anchor="t"/>
          <a:lstStyle/>
          <a:p>
            <a:pPr marL="0" indent="0">
              <a:spcAft>
                <a:spcPts val="600"/>
              </a:spcAft>
              <a:buNone/>
            </a:pPr>
            <a:r>
              <a:rPr lang="en-US" sz="1200" b="1" dirty="0">
                <a:solidFill>
                  <a:srgbClr val="14213D"/>
                </a:solidFill>
                <a:latin typeface="Calibri" pitchFamily="34" charset="0"/>
                <a:ea typeface="Calibri" pitchFamily="34" charset="-122"/>
                <a:cs typeface="Calibri" pitchFamily="34" charset="-120"/>
              </a:rPr>
              <a:t>City × Month Heatmap</a:t>
            </a:r>
            <a:endParaRPr lang="en-US" sz="1100" dirty="0"/>
          </a:p>
          <a:p>
            <a:pPr marL="0" indent="0">
              <a:buNone/>
            </a:pPr>
            <a:r>
              <a:rPr lang="en-US" sz="1100" b="1" dirty="0">
                <a:solidFill>
                  <a:srgbClr val="22303C"/>
                </a:solidFill>
                <a:latin typeface="Calibri" pitchFamily="34" charset="0"/>
                <a:ea typeface="Calibri" pitchFamily="34" charset="-122"/>
                <a:cs typeface="Calibri" pitchFamily="34" charset="-120"/>
              </a:rPr>
              <a:t>Purpose: </a:t>
            </a:r>
            <a:r>
              <a:rPr lang="en-US" sz="1100" dirty="0">
                <a:solidFill>
                  <a:srgbClr val="22303C"/>
                </a:solidFill>
                <a:latin typeface="Calibri" pitchFamily="34" charset="0"/>
                <a:ea typeface="Calibri" pitchFamily="34" charset="-122"/>
                <a:cs typeface="Calibri" pitchFamily="34" charset="-120"/>
              </a:rPr>
              <a:t>Find seasonal peaks</a:t>
            </a:r>
            <a:endParaRPr lang="en-US" sz="1100" dirty="0"/>
          </a:p>
          <a:p>
            <a:pPr marL="0" indent="0">
              <a:buNone/>
            </a:pPr>
            <a:r>
              <a:rPr lang="en-US" sz="1100" b="1" dirty="0">
                <a:solidFill>
                  <a:srgbClr val="22303C"/>
                </a:solidFill>
                <a:latin typeface="Calibri" pitchFamily="34" charset="0"/>
                <a:ea typeface="Calibri" pitchFamily="34" charset="-122"/>
                <a:cs typeface="Calibri" pitchFamily="34" charset="-120"/>
              </a:rPr>
              <a:t>Shows: </a:t>
            </a:r>
            <a:r>
              <a:rPr lang="en-US" sz="1100" dirty="0">
                <a:solidFill>
                  <a:srgbClr val="22303C"/>
                </a:solidFill>
                <a:latin typeface="Calibri" pitchFamily="34" charset="0"/>
                <a:ea typeface="Calibri" pitchFamily="34" charset="-122"/>
                <a:cs typeface="Calibri" pitchFamily="34" charset="-120"/>
              </a:rPr>
              <a:t>Mean Heat Index per city and month</a:t>
            </a:r>
            <a:endParaRPr lang="en-US" sz="1100" dirty="0"/>
          </a:p>
          <a:p>
            <a:pPr marL="0" indent="0">
              <a:buNone/>
            </a:pPr>
            <a:r>
              <a:rPr lang="en-US" sz="1100" b="1" dirty="0">
                <a:solidFill>
                  <a:srgbClr val="E4572E"/>
                </a:solidFill>
                <a:latin typeface="Calibri" pitchFamily="34" charset="0"/>
                <a:ea typeface="Calibri" pitchFamily="34" charset="-122"/>
                <a:cs typeface="Calibri" pitchFamily="34" charset="-120"/>
              </a:rPr>
              <a:t>Insight: </a:t>
            </a:r>
            <a:r>
              <a:rPr lang="en-US" sz="1100" dirty="0">
                <a:solidFill>
                  <a:srgbClr val="22303C"/>
                </a:solidFill>
                <a:latin typeface="Calibri" pitchFamily="34" charset="0"/>
                <a:ea typeface="Calibri" pitchFamily="34" charset="-122"/>
                <a:cs typeface="Calibri" pitchFamily="34" charset="-120"/>
              </a:rPr>
              <a:t>Peaks fall in May–July; Delhi peaks in humid July</a:t>
            </a:r>
            <a:endParaRPr lang="en-US" sz="1100" dirty="0"/>
          </a:p>
        </p:txBody>
      </p:sp>
      <p:sp>
        <p:nvSpPr>
          <p:cNvPr id="11" name="Shape 9"/>
          <p:cNvSpPr/>
          <p:nvPr/>
        </p:nvSpPr>
        <p:spPr>
          <a:xfrm>
            <a:off x="548640" y="3749040"/>
            <a:ext cx="5458968" cy="2331720"/>
          </a:xfrm>
          <a:prstGeom prst="roundRect">
            <a:avLst>
              <a:gd name="adj" fmla="val 4706"/>
            </a:avLst>
          </a:prstGeom>
          <a:solidFill>
            <a:srgbClr val="EEF2F6"/>
          </a:solidFill>
          <a:ln w="12700">
            <a:solidFill>
              <a:srgbClr val="EEF2F6"/>
            </a:solidFill>
            <a:prstDash val="solid"/>
          </a:ln>
        </p:spPr>
      </p:sp>
      <p:sp>
        <p:nvSpPr>
          <p:cNvPr id="14" name="Text 12"/>
          <p:cNvSpPr txBox="1"/>
          <p:nvPr/>
        </p:nvSpPr>
        <p:spPr>
          <a:xfrm>
            <a:off x="4005072" y="4114038"/>
            <a:ext cx="1920240" cy="2103120"/>
          </a:xfrm>
          <a:prstGeom prst="rect">
            <a:avLst/>
          </a:prstGeom>
          <a:noFill/>
          <a:ln/>
        </p:spPr>
        <p:txBody>
          <a:bodyPr wrap="square" lIns="0" tIns="0" rIns="0" bIns="0" rtlCol="0" anchor="t"/>
          <a:lstStyle/>
          <a:p>
            <a:pPr marL="0" indent="0">
              <a:spcAft>
                <a:spcPts val="600"/>
              </a:spcAft>
              <a:buNone/>
            </a:pPr>
            <a:r>
              <a:rPr lang="en-US" sz="1200" b="1" dirty="0">
                <a:solidFill>
                  <a:srgbClr val="14213D"/>
                </a:solidFill>
                <a:latin typeface="Calibri" pitchFamily="34" charset="0"/>
                <a:ea typeface="Calibri" pitchFamily="34" charset="-122"/>
                <a:cs typeface="Calibri" pitchFamily="34" charset="-120"/>
              </a:rPr>
              <a:t>Risk Category Mix (stacked bar)</a:t>
            </a:r>
            <a:endParaRPr lang="en-US" sz="1100" dirty="0"/>
          </a:p>
          <a:p>
            <a:pPr marL="0" indent="0">
              <a:buNone/>
            </a:pPr>
            <a:r>
              <a:rPr lang="en-US" sz="1100" b="1" dirty="0">
                <a:solidFill>
                  <a:srgbClr val="22303C"/>
                </a:solidFill>
                <a:latin typeface="Calibri" pitchFamily="34" charset="0"/>
                <a:ea typeface="Calibri" pitchFamily="34" charset="-122"/>
                <a:cs typeface="Calibri" pitchFamily="34" charset="-120"/>
              </a:rPr>
              <a:t>Purpose: </a:t>
            </a:r>
            <a:r>
              <a:rPr lang="en-US" sz="1100" dirty="0">
                <a:solidFill>
                  <a:srgbClr val="22303C"/>
                </a:solidFill>
                <a:latin typeface="Calibri" pitchFamily="34" charset="0"/>
                <a:ea typeface="Calibri" pitchFamily="34" charset="-122"/>
                <a:cs typeface="Calibri" pitchFamily="34" charset="-120"/>
              </a:rPr>
              <a:t>Compare days by risk level</a:t>
            </a:r>
            <a:endParaRPr lang="en-US" sz="1100" dirty="0"/>
          </a:p>
          <a:p>
            <a:pPr marL="0" indent="0">
              <a:buNone/>
            </a:pPr>
            <a:r>
              <a:rPr lang="en-US" sz="1100" b="1" dirty="0">
                <a:solidFill>
                  <a:srgbClr val="22303C"/>
                </a:solidFill>
                <a:latin typeface="Calibri" pitchFamily="34" charset="0"/>
                <a:ea typeface="Calibri" pitchFamily="34" charset="-122"/>
                <a:cs typeface="Calibri" pitchFamily="34" charset="-120"/>
              </a:rPr>
              <a:t>Shows: </a:t>
            </a:r>
            <a:r>
              <a:rPr lang="en-US" sz="1100" dirty="0">
                <a:solidFill>
                  <a:srgbClr val="22303C"/>
                </a:solidFill>
                <a:latin typeface="Calibri" pitchFamily="34" charset="0"/>
                <a:ea typeface="Calibri" pitchFamily="34" charset="-122"/>
                <a:cs typeface="Calibri" pitchFamily="34" charset="-120"/>
              </a:rPr>
              <a:t>% of Safe to Danger days per city</a:t>
            </a:r>
            <a:endParaRPr lang="en-US" sz="1100" dirty="0"/>
          </a:p>
          <a:p>
            <a:pPr marL="0" indent="0">
              <a:buNone/>
            </a:pPr>
            <a:r>
              <a:rPr lang="en-US" sz="1100" b="1" dirty="0">
                <a:solidFill>
                  <a:srgbClr val="E4572E"/>
                </a:solidFill>
                <a:latin typeface="Calibri" pitchFamily="34" charset="0"/>
                <a:ea typeface="Calibri" pitchFamily="34" charset="-122"/>
                <a:cs typeface="Calibri" pitchFamily="34" charset="-120"/>
              </a:rPr>
              <a:t>Insight: </a:t>
            </a:r>
            <a:r>
              <a:rPr lang="en-US" sz="1100" dirty="0">
                <a:solidFill>
                  <a:srgbClr val="22303C"/>
                </a:solidFill>
                <a:latin typeface="Calibri" pitchFamily="34" charset="0"/>
                <a:ea typeface="Calibri" pitchFamily="34" charset="-122"/>
                <a:cs typeface="Calibri" pitchFamily="34" charset="-120"/>
              </a:rPr>
              <a:t>Kolkata has 5.72% Danger days; Chennai has 75% of days above Safe</a:t>
            </a:r>
            <a:endParaRPr lang="en-US" sz="1100" dirty="0"/>
          </a:p>
        </p:txBody>
      </p:sp>
      <p:sp>
        <p:nvSpPr>
          <p:cNvPr id="15" name="Shape 13"/>
          <p:cNvSpPr/>
          <p:nvPr/>
        </p:nvSpPr>
        <p:spPr>
          <a:xfrm>
            <a:off x="6153912" y="3749040"/>
            <a:ext cx="5458968" cy="2331720"/>
          </a:xfrm>
          <a:prstGeom prst="roundRect">
            <a:avLst>
              <a:gd name="adj" fmla="val 4706"/>
            </a:avLst>
          </a:prstGeom>
          <a:solidFill>
            <a:srgbClr val="EEF2F6"/>
          </a:solidFill>
          <a:ln w="12700">
            <a:solidFill>
              <a:srgbClr val="EEF2F6"/>
            </a:solidFill>
            <a:prstDash val="solid"/>
          </a:ln>
        </p:spPr>
      </p:sp>
      <p:sp>
        <p:nvSpPr>
          <p:cNvPr id="18" name="Text 16"/>
          <p:cNvSpPr txBox="1"/>
          <p:nvPr/>
        </p:nvSpPr>
        <p:spPr>
          <a:xfrm>
            <a:off x="9578340" y="4142823"/>
            <a:ext cx="1920240" cy="2103120"/>
          </a:xfrm>
          <a:prstGeom prst="rect">
            <a:avLst/>
          </a:prstGeom>
          <a:noFill/>
          <a:ln/>
        </p:spPr>
        <p:txBody>
          <a:bodyPr wrap="square" lIns="0" tIns="0" rIns="0" bIns="0" rtlCol="0" anchor="t"/>
          <a:lstStyle/>
          <a:p>
            <a:pPr marL="0" indent="0">
              <a:spcAft>
                <a:spcPts val="600"/>
              </a:spcAft>
              <a:buNone/>
            </a:pPr>
            <a:r>
              <a:rPr lang="en-US" sz="1200" b="1" dirty="0">
                <a:solidFill>
                  <a:srgbClr val="14213D"/>
                </a:solidFill>
                <a:latin typeface="Calibri" pitchFamily="34" charset="0"/>
                <a:ea typeface="Calibri" pitchFamily="34" charset="-122"/>
                <a:cs typeface="Calibri" pitchFamily="34" charset="-120"/>
              </a:rPr>
              <a:t>Annual Hot Days (line chart)</a:t>
            </a:r>
            <a:endParaRPr lang="en-US" sz="1100" dirty="0"/>
          </a:p>
          <a:p>
            <a:pPr marL="0" indent="0">
              <a:buNone/>
            </a:pPr>
            <a:r>
              <a:rPr lang="en-US" sz="1100" b="1" dirty="0">
                <a:solidFill>
                  <a:srgbClr val="22303C"/>
                </a:solidFill>
                <a:latin typeface="Calibri" pitchFamily="34" charset="0"/>
                <a:ea typeface="Calibri" pitchFamily="34" charset="-122"/>
                <a:cs typeface="Calibri" pitchFamily="34" charset="-120"/>
              </a:rPr>
              <a:t>Purpose: </a:t>
            </a:r>
            <a:r>
              <a:rPr lang="en-US" sz="1100" dirty="0">
                <a:solidFill>
                  <a:srgbClr val="22303C"/>
                </a:solidFill>
                <a:latin typeface="Calibri" pitchFamily="34" charset="0"/>
                <a:ea typeface="Calibri" pitchFamily="34" charset="-122"/>
                <a:cs typeface="Calibri" pitchFamily="34" charset="-120"/>
              </a:rPr>
              <a:t>Track hot days (≥ 40°C) by year</a:t>
            </a:r>
            <a:endParaRPr lang="en-US" sz="1100" dirty="0"/>
          </a:p>
          <a:p>
            <a:pPr marL="0" indent="0">
              <a:buNone/>
            </a:pPr>
            <a:r>
              <a:rPr lang="en-US" sz="1100" b="1" dirty="0">
                <a:solidFill>
                  <a:srgbClr val="22303C"/>
                </a:solidFill>
                <a:latin typeface="Calibri" pitchFamily="34" charset="0"/>
                <a:ea typeface="Calibri" pitchFamily="34" charset="-122"/>
                <a:cs typeface="Calibri" pitchFamily="34" charset="-120"/>
              </a:rPr>
              <a:t>Shows: </a:t>
            </a:r>
            <a:r>
              <a:rPr lang="en-US" sz="1100" dirty="0">
                <a:solidFill>
                  <a:srgbClr val="22303C"/>
                </a:solidFill>
                <a:latin typeface="Calibri" pitchFamily="34" charset="0"/>
                <a:ea typeface="Calibri" pitchFamily="34" charset="-122"/>
                <a:cs typeface="Calibri" pitchFamily="34" charset="-120"/>
              </a:rPr>
              <a:t>Yearly hot-day count per city</a:t>
            </a:r>
            <a:endParaRPr lang="en-US" sz="1100" dirty="0"/>
          </a:p>
          <a:p>
            <a:pPr marL="0" indent="0">
              <a:buNone/>
            </a:pPr>
            <a:r>
              <a:rPr lang="en-US" sz="1100" b="1" dirty="0">
                <a:solidFill>
                  <a:srgbClr val="E4572E"/>
                </a:solidFill>
                <a:latin typeface="Calibri" pitchFamily="34" charset="0"/>
                <a:ea typeface="Calibri" pitchFamily="34" charset="-122"/>
                <a:cs typeface="Calibri" pitchFamily="34" charset="-120"/>
              </a:rPr>
              <a:t>Insight: </a:t>
            </a:r>
            <a:r>
              <a:rPr lang="en-US" sz="1100" dirty="0">
                <a:solidFill>
                  <a:srgbClr val="22303C"/>
                </a:solidFill>
                <a:latin typeface="Calibri" pitchFamily="34" charset="0"/>
                <a:ea typeface="Calibri" pitchFamily="34" charset="-122"/>
                <a:cs typeface="Calibri" pitchFamily="34" charset="-120"/>
              </a:rPr>
              <a:t>Ahmedabad and Delhi lead; no significant trend</a:t>
            </a:r>
            <a:endParaRPr lang="en-US" sz="1100" dirty="0"/>
          </a:p>
        </p:txBody>
      </p:sp>
      <p:sp>
        <p:nvSpPr>
          <p:cNvPr id="19" name="Text 17"/>
          <p:cNvSpPr txBox="1"/>
          <p:nvPr/>
        </p:nvSpPr>
        <p:spPr>
          <a:xfrm>
            <a:off x="548640" y="6263640"/>
            <a:ext cx="11064240" cy="365760"/>
          </a:xfrm>
          <a:prstGeom prst="rect">
            <a:avLst/>
          </a:prstGeom>
          <a:noFill/>
          <a:ln/>
        </p:spPr>
        <p:txBody>
          <a:bodyPr wrap="square" lIns="0" tIns="0" rIns="0" bIns="0" rtlCol="0" anchor="t"/>
          <a:lstStyle/>
          <a:p>
            <a:pPr marL="0" indent="0">
              <a:buNone/>
            </a:pPr>
            <a:r>
              <a:rPr lang="en-US" sz="1100" i="1" dirty="0">
                <a:solidFill>
                  <a:srgbClr val="5C6B7A"/>
                </a:solidFill>
                <a:latin typeface="Calibri" pitchFamily="34" charset="0"/>
                <a:ea typeface="Calibri" pitchFamily="34" charset="-122"/>
                <a:cs typeface="Calibri" pitchFamily="34" charset="-120"/>
              </a:rPr>
              <a:t>Also created in the notebook: temperature and Heat Index histograms, temperature–humidity scatter, annual and monthly Heat Index trend lines (Matplotlib).</a:t>
            </a:r>
            <a:endParaRPr lang="en-US" sz="1100" dirty="0"/>
          </a:p>
        </p:txBody>
      </p:sp>
      <p:pic>
        <p:nvPicPr>
          <p:cNvPr id="21" name="Picture 20">
            <a:extLst>
              <a:ext uri="{FF2B5EF4-FFF2-40B4-BE49-F238E27FC236}">
                <a16:creationId xmlns:a16="http://schemas.microsoft.com/office/drawing/2014/main" id="{4E9A3A2E-208A-33E1-ED4B-2D1F9D58741F}"/>
              </a:ext>
            </a:extLst>
          </p:cNvPr>
          <p:cNvPicPr>
            <a:picLocks noChangeAspect="1"/>
          </p:cNvPicPr>
          <p:nvPr/>
        </p:nvPicPr>
        <p:blipFill>
          <a:blip r:embed="rId3"/>
          <a:stretch>
            <a:fillRect/>
          </a:stretch>
        </p:blipFill>
        <p:spPr>
          <a:xfrm>
            <a:off x="658368" y="1692402"/>
            <a:ext cx="3203311" cy="1589532"/>
          </a:xfrm>
          <a:prstGeom prst="rect">
            <a:avLst/>
          </a:prstGeom>
        </p:spPr>
      </p:pic>
      <p:pic>
        <p:nvPicPr>
          <p:cNvPr id="23" name="Picture 22">
            <a:extLst>
              <a:ext uri="{FF2B5EF4-FFF2-40B4-BE49-F238E27FC236}">
                <a16:creationId xmlns:a16="http://schemas.microsoft.com/office/drawing/2014/main" id="{32DFE64B-2C2F-D05C-67FA-8AF8B3A73469}"/>
              </a:ext>
            </a:extLst>
          </p:cNvPr>
          <p:cNvPicPr>
            <a:picLocks noChangeAspect="1"/>
          </p:cNvPicPr>
          <p:nvPr/>
        </p:nvPicPr>
        <p:blipFill>
          <a:blip r:embed="rId4"/>
          <a:stretch>
            <a:fillRect/>
          </a:stretch>
        </p:blipFill>
        <p:spPr>
          <a:xfrm>
            <a:off x="6263640" y="1657681"/>
            <a:ext cx="3204000" cy="1713837"/>
          </a:xfrm>
          <a:prstGeom prst="rect">
            <a:avLst/>
          </a:prstGeom>
        </p:spPr>
      </p:pic>
      <p:pic>
        <p:nvPicPr>
          <p:cNvPr id="25" name="Picture 24">
            <a:extLst>
              <a:ext uri="{FF2B5EF4-FFF2-40B4-BE49-F238E27FC236}">
                <a16:creationId xmlns:a16="http://schemas.microsoft.com/office/drawing/2014/main" id="{A6D0ED9E-3C05-7588-B2AE-B4B29BEFFDB1}"/>
              </a:ext>
            </a:extLst>
          </p:cNvPr>
          <p:cNvPicPr>
            <a:picLocks noChangeAspect="1"/>
          </p:cNvPicPr>
          <p:nvPr/>
        </p:nvPicPr>
        <p:blipFill>
          <a:blip r:embed="rId5"/>
          <a:stretch>
            <a:fillRect/>
          </a:stretch>
        </p:blipFill>
        <p:spPr>
          <a:xfrm>
            <a:off x="629031" y="4108283"/>
            <a:ext cx="3232648" cy="1604090"/>
          </a:xfrm>
          <a:prstGeom prst="rect">
            <a:avLst/>
          </a:prstGeom>
        </p:spPr>
      </p:pic>
      <p:pic>
        <p:nvPicPr>
          <p:cNvPr id="27" name="Picture 26">
            <a:extLst>
              <a:ext uri="{FF2B5EF4-FFF2-40B4-BE49-F238E27FC236}">
                <a16:creationId xmlns:a16="http://schemas.microsoft.com/office/drawing/2014/main" id="{B03FB104-E213-0DC2-08D9-1432967CB45A}"/>
              </a:ext>
            </a:extLst>
          </p:cNvPr>
          <p:cNvPicPr>
            <a:picLocks noChangeAspect="1"/>
          </p:cNvPicPr>
          <p:nvPr/>
        </p:nvPicPr>
        <p:blipFill>
          <a:blip r:embed="rId6"/>
          <a:stretch>
            <a:fillRect/>
          </a:stretch>
        </p:blipFill>
        <p:spPr>
          <a:xfrm>
            <a:off x="6278800" y="4136727"/>
            <a:ext cx="3153236" cy="1564685"/>
          </a:xfrm>
          <a:prstGeom prst="rect">
            <a:avLst/>
          </a:prstGeom>
        </p:spPr>
      </p:pic>
    </p:spTree>
    <p:extLst>
      <p:ext uri="{BB962C8B-B14F-4D97-AF65-F5344CB8AC3E}">
        <p14:creationId xmlns:p14="http://schemas.microsoft.com/office/powerpoint/2010/main" val="2122278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marL="0" indent="0">
              <a:buNone/>
            </a:pPr>
            <a:r>
              <a:rPr lang="en-US" sz="3400" b="1" dirty="0">
                <a:solidFill>
                  <a:srgbClr val="14213D"/>
                </a:solidFill>
                <a:latin typeface="Cambria" pitchFamily="34" charset="0"/>
                <a:ea typeface="Cambria" pitchFamily="34" charset="-122"/>
                <a:cs typeface="Cambria" pitchFamily="34" charset="-120"/>
              </a:rPr>
              <a:t>Key Insights &amp; Recommendations</a:t>
            </a:r>
            <a:endParaRPr lang="en-US" sz="3400" dirty="0"/>
          </a:p>
        </p:txBody>
      </p:sp>
      <p:sp>
        <p:nvSpPr>
          <p:cNvPr id="3" name="Shape 1"/>
          <p:cNvSpPr/>
          <p:nvPr/>
        </p:nvSpPr>
        <p:spPr>
          <a:xfrm>
            <a:off x="548640" y="1371600"/>
            <a:ext cx="6309360" cy="4754880"/>
          </a:xfrm>
          <a:prstGeom prst="roundRect">
            <a:avLst>
              <a:gd name="adj" fmla="val 2308"/>
            </a:avLst>
          </a:prstGeom>
          <a:solidFill>
            <a:srgbClr val="EEF2F6"/>
          </a:solidFill>
          <a:ln w="12700">
            <a:solidFill>
              <a:srgbClr val="EEF2F6"/>
            </a:solidFill>
            <a:prstDash val="solid"/>
          </a:ln>
        </p:spPr>
      </p:sp>
      <p:sp>
        <p:nvSpPr>
          <p:cNvPr id="4" name="Text 2"/>
          <p:cNvSpPr txBox="1"/>
          <p:nvPr/>
        </p:nvSpPr>
        <p:spPr>
          <a:xfrm>
            <a:off x="822960" y="1554480"/>
            <a:ext cx="5760720" cy="365760"/>
          </a:xfrm>
          <a:prstGeom prst="rect">
            <a:avLst/>
          </a:prstGeom>
          <a:noFill/>
          <a:ln/>
        </p:spPr>
        <p:txBody>
          <a:bodyPr wrap="square" lIns="0" tIns="0" rIns="0" bIns="0" rtlCol="0" anchor="t"/>
          <a:lstStyle/>
          <a:p>
            <a:pPr marL="0" indent="0">
              <a:buNone/>
            </a:pPr>
            <a:r>
              <a:rPr lang="en-US" sz="2000" b="1" dirty="0">
                <a:solidFill>
                  <a:srgbClr val="14213D"/>
                </a:solidFill>
                <a:latin typeface="Cambria" pitchFamily="34" charset="0"/>
                <a:ea typeface="Cambria" pitchFamily="34" charset="-122"/>
                <a:cs typeface="Cambria" pitchFamily="34" charset="-120"/>
              </a:rPr>
              <a:t>Key insights</a:t>
            </a:r>
            <a:endParaRPr lang="en-US" sz="2000" dirty="0"/>
          </a:p>
        </p:txBody>
      </p:sp>
      <p:sp>
        <p:nvSpPr>
          <p:cNvPr id="5" name="Text 3"/>
          <p:cNvSpPr txBox="1"/>
          <p:nvPr/>
        </p:nvSpPr>
        <p:spPr>
          <a:xfrm>
            <a:off x="822960" y="2103120"/>
            <a:ext cx="5760720" cy="39319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22303C"/>
                </a:solidFill>
                <a:latin typeface="Calibri" pitchFamily="34" charset="0"/>
                <a:ea typeface="Calibri" pitchFamily="34" charset="-122"/>
                <a:cs typeface="Calibri" pitchFamily="34" charset="-120"/>
              </a:rPr>
              <a:t>Kolkata has the highest Danger-day share (5.72%), then Delhi (4.48%) and Ahmedabad (3.95%).</a:t>
            </a:r>
            <a:endParaRPr lang="en-US" sz="1500" dirty="0"/>
          </a:p>
          <a:p>
            <a:pPr marL="342900" indent="-342900">
              <a:spcAft>
                <a:spcPts val="900"/>
              </a:spcAft>
              <a:buSzPct val="100000"/>
              <a:buChar char="•"/>
            </a:pPr>
            <a:r>
              <a:rPr lang="en-US" sz="1500" dirty="0">
                <a:solidFill>
                  <a:srgbClr val="22303C"/>
                </a:solidFill>
                <a:latin typeface="Calibri" pitchFamily="34" charset="0"/>
                <a:ea typeface="Calibri" pitchFamily="34" charset="-122"/>
                <a:cs typeface="Calibri" pitchFamily="34" charset="-120"/>
              </a:rPr>
              <a:t>Temperature alone misranks: Kolkata is 4th by hot days but 1st by Danger days.</a:t>
            </a:r>
            <a:endParaRPr lang="en-US" sz="1500" dirty="0"/>
          </a:p>
          <a:p>
            <a:pPr marL="342900" indent="-342900">
              <a:spcAft>
                <a:spcPts val="900"/>
              </a:spcAft>
              <a:buSzPct val="100000"/>
              <a:buChar char="•"/>
            </a:pPr>
            <a:r>
              <a:rPr lang="en-US" sz="1500" dirty="0">
                <a:solidFill>
                  <a:srgbClr val="22303C"/>
                </a:solidFill>
                <a:latin typeface="Calibri" pitchFamily="34" charset="0"/>
                <a:ea typeface="Calibri" pitchFamily="34" charset="-122"/>
                <a:cs typeface="Calibri" pitchFamily="34" charset="-120"/>
              </a:rPr>
              <a:t>Chennai has almost no 40°C days yet the highest mean Heat Index (31.06°C).</a:t>
            </a:r>
            <a:endParaRPr lang="en-US" sz="1500" dirty="0"/>
          </a:p>
          <a:p>
            <a:pPr marL="342900" indent="-342900">
              <a:spcAft>
                <a:spcPts val="900"/>
              </a:spcAft>
              <a:buSzPct val="100000"/>
              <a:buChar char="•"/>
            </a:pPr>
            <a:r>
              <a:rPr lang="en-US" sz="1500" dirty="0">
                <a:solidFill>
                  <a:srgbClr val="22303C"/>
                </a:solidFill>
                <a:latin typeface="Calibri" pitchFamily="34" charset="0"/>
                <a:ea typeface="Calibri" pitchFamily="34" charset="-122"/>
                <a:cs typeface="Calibri" pitchFamily="34" charset="-120"/>
              </a:rPr>
              <a:t>Delhi has a dry heat season (May–June) and a humid one (July).</a:t>
            </a:r>
            <a:endParaRPr lang="en-US" sz="1500" dirty="0"/>
          </a:p>
          <a:p>
            <a:pPr marL="342900" indent="-342900">
              <a:spcAft>
                <a:spcPts val="900"/>
              </a:spcAft>
              <a:buSzPct val="100000"/>
              <a:buChar char="•"/>
            </a:pPr>
            <a:r>
              <a:rPr lang="en-US" sz="1500" dirty="0">
                <a:solidFill>
                  <a:srgbClr val="22303C"/>
                </a:solidFill>
                <a:latin typeface="Calibri" pitchFamily="34" charset="0"/>
                <a:ea typeface="Calibri" pitchFamily="34" charset="-122"/>
                <a:cs typeface="Calibri" pitchFamily="34" charset="-120"/>
              </a:rPr>
              <a:t>No significant trend in Heat Index or hot days in any city (p ≥ 0.05).</a:t>
            </a:r>
            <a:endParaRPr lang="en-US" sz="1500" dirty="0"/>
          </a:p>
        </p:txBody>
      </p:sp>
      <p:sp>
        <p:nvSpPr>
          <p:cNvPr id="6" name="Shape 4"/>
          <p:cNvSpPr/>
          <p:nvPr/>
        </p:nvSpPr>
        <p:spPr>
          <a:xfrm>
            <a:off x="7132320" y="1371600"/>
            <a:ext cx="4480560" cy="4754880"/>
          </a:xfrm>
          <a:prstGeom prst="roundRect">
            <a:avLst>
              <a:gd name="adj" fmla="val 2449"/>
            </a:avLst>
          </a:prstGeom>
          <a:solidFill>
            <a:srgbClr val="14213D"/>
          </a:solidFill>
          <a:ln w="12700">
            <a:solidFill>
              <a:srgbClr val="14213D"/>
            </a:solidFill>
            <a:prstDash val="solid"/>
          </a:ln>
        </p:spPr>
      </p:sp>
      <p:sp>
        <p:nvSpPr>
          <p:cNvPr id="7" name="Text 5"/>
          <p:cNvSpPr txBox="1"/>
          <p:nvPr/>
        </p:nvSpPr>
        <p:spPr>
          <a:xfrm>
            <a:off x="7406640" y="1554480"/>
            <a:ext cx="3931920" cy="365760"/>
          </a:xfrm>
          <a:prstGeom prst="rect">
            <a:avLst/>
          </a:prstGeom>
          <a:noFill/>
          <a:ln/>
        </p:spPr>
        <p:txBody>
          <a:bodyPr wrap="square" lIns="0" tIns="0" rIns="0" bIns="0" rtlCol="0" anchor="t"/>
          <a:lstStyle/>
          <a:p>
            <a:pPr marL="0" indent="0">
              <a:buNone/>
            </a:pPr>
            <a:r>
              <a:rPr lang="en-US" sz="2000" b="1" dirty="0">
                <a:solidFill>
                  <a:srgbClr val="FFFFFF"/>
                </a:solidFill>
                <a:latin typeface="Cambria" pitchFamily="34" charset="0"/>
                <a:ea typeface="Cambria" pitchFamily="34" charset="-122"/>
                <a:cs typeface="Cambria" pitchFamily="34" charset="-120"/>
              </a:rPr>
              <a:t>Recommendations</a:t>
            </a:r>
            <a:endParaRPr lang="en-US" sz="2000" dirty="0"/>
          </a:p>
        </p:txBody>
      </p:sp>
      <p:sp>
        <p:nvSpPr>
          <p:cNvPr id="8" name="Text 6"/>
          <p:cNvSpPr txBox="1"/>
          <p:nvPr/>
        </p:nvSpPr>
        <p:spPr>
          <a:xfrm>
            <a:off x="7406640" y="2103120"/>
            <a:ext cx="3931920" cy="39319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Report humidity-adjusted measures (Heat Index or wet-bulb) alongside temperature in heat alerts.</a:t>
            </a:r>
            <a:endParaRPr lang="en-US" sz="1500" dirty="0"/>
          </a:p>
          <a:p>
            <a:pPr marL="342900" indent="-3429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Prioritize Kolkata, Delhi and Ahmedabad for Danger-day preparedness.</a:t>
            </a:r>
            <a:endParaRPr lang="en-US" sz="1500" dirty="0"/>
          </a:p>
          <a:p>
            <a:pPr marL="342900" indent="-3429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Extend Delhi's advisories into the humid monsoon months.</a:t>
            </a:r>
            <a:endParaRPr lang="en-US" sz="1500" dirty="0"/>
          </a:p>
          <a:p>
            <a:pPr marL="342900" indent="-3429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Plan year-round heat awareness for Chennai.</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3" name="Shape 1"/>
          <p:cNvSpPr/>
          <p:nvPr/>
        </p:nvSpPr>
        <p:spPr>
          <a:xfrm>
            <a:off x="548640" y="1417320"/>
            <a:ext cx="5394960" cy="2240280"/>
          </a:xfrm>
          <a:prstGeom prst="roundRect">
            <a:avLst>
              <a:gd name="adj" fmla="val 4898"/>
            </a:avLst>
          </a:prstGeom>
          <a:solidFill>
            <a:srgbClr val="22345C"/>
          </a:solidFill>
          <a:ln w="12700">
            <a:solidFill>
              <a:srgbClr val="22345C"/>
            </a:solidFill>
            <a:prstDash val="solid"/>
          </a:ln>
        </p:spPr>
      </p:sp>
      <p:sp>
        <p:nvSpPr>
          <p:cNvPr id="4" name="Shape 2"/>
          <p:cNvSpPr/>
          <p:nvPr/>
        </p:nvSpPr>
        <p:spPr>
          <a:xfrm>
            <a:off x="822960" y="1645920"/>
            <a:ext cx="411480" cy="411480"/>
          </a:xfrm>
          <a:prstGeom prst="ellipse">
            <a:avLst/>
          </a:prstGeom>
          <a:solidFill>
            <a:srgbClr val="E4572E"/>
          </a:solidFill>
          <a:ln w="12700">
            <a:solidFill>
              <a:srgbClr val="E4572E"/>
            </a:solidFill>
            <a:prstDash val="solid"/>
          </a:ln>
        </p:spPr>
      </p:sp>
      <p:sp>
        <p:nvSpPr>
          <p:cNvPr id="5" name="Text 3"/>
          <p:cNvSpPr txBox="1"/>
          <p:nvPr/>
        </p:nvSpPr>
        <p:spPr>
          <a:xfrm>
            <a:off x="822960" y="164592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417320" y="1664208"/>
            <a:ext cx="4297680" cy="365760"/>
          </a:xfrm>
          <a:prstGeom prst="rect">
            <a:avLst/>
          </a:prstGeom>
          <a:noFill/>
          <a:ln/>
        </p:spPr>
        <p:txBody>
          <a:bodyPr wrap="square" lIns="0" tIns="0" rIns="0" bIns="0" rtlCol="0" anchor="t"/>
          <a:lstStyle/>
          <a:p>
            <a:pPr marL="0" indent="0">
              <a:buNone/>
            </a:pPr>
            <a:r>
              <a:rPr lang="en-US" sz="1900" b="1" dirty="0">
                <a:solidFill>
                  <a:srgbClr val="FFFFFF"/>
                </a:solidFill>
                <a:latin typeface="Cambria" pitchFamily="34" charset="0"/>
                <a:ea typeface="Cambria" pitchFamily="34" charset="-122"/>
                <a:cs typeface="Cambria" pitchFamily="34" charset="-120"/>
              </a:rPr>
              <a:t>What was achieved</a:t>
            </a:r>
            <a:endParaRPr lang="en-US" sz="1900" dirty="0"/>
          </a:p>
        </p:txBody>
      </p:sp>
      <p:sp>
        <p:nvSpPr>
          <p:cNvPr id="7" name="Text 5"/>
          <p:cNvSpPr txBox="1"/>
          <p:nvPr/>
        </p:nvSpPr>
        <p:spPr>
          <a:xfrm>
            <a:off x="822960" y="2286000"/>
            <a:ext cx="4846320" cy="1280160"/>
          </a:xfrm>
          <a:prstGeom prst="rect">
            <a:avLst/>
          </a:prstGeom>
          <a:noFill/>
          <a:ln/>
        </p:spPr>
        <p:txBody>
          <a:bodyPr wrap="square" lIns="0" tIns="0" rIns="0" bIns="0" rtlCol="0" anchor="t"/>
          <a:lstStyle/>
          <a:p>
            <a:pPr marL="0" indent="0">
              <a:buNone/>
            </a:pPr>
            <a:r>
              <a:rPr lang="en-US" sz="1400" dirty="0">
                <a:solidFill>
                  <a:srgbClr val="E3EAF6"/>
                </a:solidFill>
                <a:latin typeface="Calibri" pitchFamily="34" charset="0"/>
                <a:ea typeface="Calibri" pitchFamily="34" charset="-122"/>
                <a:cs typeface="Calibri" pitchFamily="34" charset="-120"/>
              </a:rPr>
              <a:t>Built a reproducible Python pipeline: load, clean, compute Heat Index, categorize, visualize and test trends for six cities (35,064 daily records).</a:t>
            </a:r>
            <a:endParaRPr lang="en-US" sz="1400" dirty="0"/>
          </a:p>
        </p:txBody>
      </p:sp>
      <p:sp>
        <p:nvSpPr>
          <p:cNvPr id="8" name="Shape 6"/>
          <p:cNvSpPr/>
          <p:nvPr/>
        </p:nvSpPr>
        <p:spPr>
          <a:xfrm>
            <a:off x="6217920" y="1417320"/>
            <a:ext cx="5394960" cy="2240280"/>
          </a:xfrm>
          <a:prstGeom prst="roundRect">
            <a:avLst>
              <a:gd name="adj" fmla="val 4898"/>
            </a:avLst>
          </a:prstGeom>
          <a:solidFill>
            <a:srgbClr val="22345C"/>
          </a:solidFill>
          <a:ln w="12700">
            <a:solidFill>
              <a:srgbClr val="22345C"/>
            </a:solidFill>
            <a:prstDash val="solid"/>
          </a:ln>
        </p:spPr>
      </p:sp>
      <p:sp>
        <p:nvSpPr>
          <p:cNvPr id="9" name="Shape 7"/>
          <p:cNvSpPr/>
          <p:nvPr/>
        </p:nvSpPr>
        <p:spPr>
          <a:xfrm>
            <a:off x="6492240" y="1645920"/>
            <a:ext cx="411480" cy="411480"/>
          </a:xfrm>
          <a:prstGeom prst="ellipse">
            <a:avLst/>
          </a:prstGeom>
          <a:solidFill>
            <a:srgbClr val="E4572E"/>
          </a:solidFill>
          <a:ln w="12700">
            <a:solidFill>
              <a:srgbClr val="E4572E"/>
            </a:solidFill>
            <a:prstDash val="solid"/>
          </a:ln>
        </p:spPr>
      </p:sp>
      <p:sp>
        <p:nvSpPr>
          <p:cNvPr id="10" name="Text 8"/>
          <p:cNvSpPr txBox="1"/>
          <p:nvPr/>
        </p:nvSpPr>
        <p:spPr>
          <a:xfrm>
            <a:off x="6492240" y="164592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7086600" y="1664208"/>
            <a:ext cx="4297680" cy="365760"/>
          </a:xfrm>
          <a:prstGeom prst="rect">
            <a:avLst/>
          </a:prstGeom>
          <a:noFill/>
          <a:ln/>
        </p:spPr>
        <p:txBody>
          <a:bodyPr wrap="square" lIns="0" tIns="0" rIns="0" bIns="0" rtlCol="0" anchor="t"/>
          <a:lstStyle/>
          <a:p>
            <a:pPr marL="0" indent="0">
              <a:buNone/>
            </a:pPr>
            <a:r>
              <a:rPr lang="en-US" sz="1900" b="1" dirty="0">
                <a:solidFill>
                  <a:srgbClr val="FFFFFF"/>
                </a:solidFill>
                <a:latin typeface="Cambria" pitchFamily="34" charset="0"/>
                <a:ea typeface="Cambria" pitchFamily="34" charset="-122"/>
                <a:cs typeface="Cambria" pitchFamily="34" charset="-120"/>
              </a:rPr>
              <a:t>Major findings</a:t>
            </a:r>
            <a:endParaRPr lang="en-US" sz="1900" dirty="0"/>
          </a:p>
        </p:txBody>
      </p:sp>
      <p:sp>
        <p:nvSpPr>
          <p:cNvPr id="12" name="Text 10"/>
          <p:cNvSpPr txBox="1"/>
          <p:nvPr/>
        </p:nvSpPr>
        <p:spPr>
          <a:xfrm>
            <a:off x="6492240" y="2286000"/>
            <a:ext cx="4846320" cy="1280160"/>
          </a:xfrm>
          <a:prstGeom prst="rect">
            <a:avLst/>
          </a:prstGeom>
          <a:noFill/>
          <a:ln/>
        </p:spPr>
        <p:txBody>
          <a:bodyPr wrap="square" lIns="0" tIns="0" rIns="0" bIns="0" rtlCol="0" anchor="t"/>
          <a:lstStyle/>
          <a:p>
            <a:pPr marL="0" indent="0">
              <a:buNone/>
            </a:pPr>
            <a:r>
              <a:rPr lang="en-US" sz="1400" dirty="0">
                <a:solidFill>
                  <a:srgbClr val="E3EAF6"/>
                </a:solidFill>
                <a:latin typeface="Calibri" pitchFamily="34" charset="0"/>
                <a:ea typeface="Calibri" pitchFamily="34" charset="-122"/>
                <a:cs typeface="Calibri" pitchFamily="34" charset="-120"/>
              </a:rPr>
              <a:t>Kolkata has the most Danger days (5.72%) despite ranking 4th by hot days; Ahmedabad leads on hot days but is 3rd on Danger days. No significant trend, 2010–2025.</a:t>
            </a:r>
            <a:endParaRPr lang="en-US" sz="1400" dirty="0"/>
          </a:p>
        </p:txBody>
      </p:sp>
      <p:sp>
        <p:nvSpPr>
          <p:cNvPr id="13" name="Shape 11"/>
          <p:cNvSpPr/>
          <p:nvPr/>
        </p:nvSpPr>
        <p:spPr>
          <a:xfrm>
            <a:off x="548640" y="3840480"/>
            <a:ext cx="5394960" cy="2240280"/>
          </a:xfrm>
          <a:prstGeom prst="roundRect">
            <a:avLst>
              <a:gd name="adj" fmla="val 4898"/>
            </a:avLst>
          </a:prstGeom>
          <a:solidFill>
            <a:srgbClr val="22345C"/>
          </a:solidFill>
          <a:ln w="12700">
            <a:solidFill>
              <a:srgbClr val="22345C"/>
            </a:solidFill>
            <a:prstDash val="solid"/>
          </a:ln>
        </p:spPr>
      </p:sp>
      <p:sp>
        <p:nvSpPr>
          <p:cNvPr id="14" name="Shape 12"/>
          <p:cNvSpPr/>
          <p:nvPr/>
        </p:nvSpPr>
        <p:spPr>
          <a:xfrm>
            <a:off x="822960" y="4069080"/>
            <a:ext cx="411480" cy="411480"/>
          </a:xfrm>
          <a:prstGeom prst="ellipse">
            <a:avLst/>
          </a:prstGeom>
          <a:solidFill>
            <a:srgbClr val="E4572E"/>
          </a:solidFill>
          <a:ln w="12700">
            <a:solidFill>
              <a:srgbClr val="E4572E"/>
            </a:solidFill>
            <a:prstDash val="solid"/>
          </a:ln>
        </p:spPr>
      </p:sp>
      <p:sp>
        <p:nvSpPr>
          <p:cNvPr id="15" name="Text 13"/>
          <p:cNvSpPr txBox="1"/>
          <p:nvPr/>
        </p:nvSpPr>
        <p:spPr>
          <a:xfrm>
            <a:off x="822960" y="40690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1417320" y="4087368"/>
            <a:ext cx="4297680" cy="365760"/>
          </a:xfrm>
          <a:prstGeom prst="rect">
            <a:avLst/>
          </a:prstGeom>
          <a:noFill/>
          <a:ln/>
        </p:spPr>
        <p:txBody>
          <a:bodyPr wrap="square" lIns="0" tIns="0" rIns="0" bIns="0" rtlCol="0" anchor="t"/>
          <a:lstStyle/>
          <a:p>
            <a:pPr marL="0" indent="0">
              <a:buNone/>
            </a:pPr>
            <a:r>
              <a:rPr lang="en-US" sz="1900" b="1" dirty="0">
                <a:solidFill>
                  <a:srgbClr val="FFFFFF"/>
                </a:solidFill>
                <a:latin typeface="Cambria" pitchFamily="34" charset="0"/>
                <a:ea typeface="Cambria" pitchFamily="34" charset="-122"/>
                <a:cs typeface="Cambria" pitchFamily="34" charset="-120"/>
              </a:rPr>
              <a:t>How it helps</a:t>
            </a:r>
            <a:endParaRPr lang="en-US" sz="1900" dirty="0"/>
          </a:p>
        </p:txBody>
      </p:sp>
      <p:sp>
        <p:nvSpPr>
          <p:cNvPr id="17" name="Text 15"/>
          <p:cNvSpPr txBox="1"/>
          <p:nvPr/>
        </p:nvSpPr>
        <p:spPr>
          <a:xfrm>
            <a:off x="822960" y="4709160"/>
            <a:ext cx="4846320" cy="1280160"/>
          </a:xfrm>
          <a:prstGeom prst="rect">
            <a:avLst/>
          </a:prstGeom>
          <a:noFill/>
          <a:ln/>
        </p:spPr>
        <p:txBody>
          <a:bodyPr wrap="square" lIns="0" tIns="0" rIns="0" bIns="0" rtlCol="0" anchor="t"/>
          <a:lstStyle/>
          <a:p>
            <a:pPr marL="0" indent="0">
              <a:buNone/>
            </a:pPr>
            <a:r>
              <a:rPr lang="en-US" sz="1400" dirty="0">
                <a:solidFill>
                  <a:srgbClr val="E3EAF6"/>
                </a:solidFill>
                <a:latin typeface="Calibri" pitchFamily="34" charset="0"/>
                <a:ea typeface="Calibri" pitchFamily="34" charset="-122"/>
                <a:cs typeface="Calibri" pitchFamily="34" charset="-120"/>
              </a:rPr>
              <a:t>Shows that humidity changes which cities and seasons are riskiest, supporting better-targeted heat alerts and planning.</a:t>
            </a:r>
            <a:endParaRPr lang="en-US" sz="1400" dirty="0"/>
          </a:p>
        </p:txBody>
      </p:sp>
      <p:sp>
        <p:nvSpPr>
          <p:cNvPr id="18" name="Shape 16"/>
          <p:cNvSpPr/>
          <p:nvPr/>
        </p:nvSpPr>
        <p:spPr>
          <a:xfrm>
            <a:off x="6217920" y="3840480"/>
            <a:ext cx="5394960" cy="2240280"/>
          </a:xfrm>
          <a:prstGeom prst="roundRect">
            <a:avLst>
              <a:gd name="adj" fmla="val 4898"/>
            </a:avLst>
          </a:prstGeom>
          <a:solidFill>
            <a:srgbClr val="22345C"/>
          </a:solidFill>
          <a:ln w="12700">
            <a:solidFill>
              <a:srgbClr val="22345C"/>
            </a:solidFill>
            <a:prstDash val="solid"/>
          </a:ln>
        </p:spPr>
      </p:sp>
      <p:sp>
        <p:nvSpPr>
          <p:cNvPr id="19" name="Shape 17"/>
          <p:cNvSpPr/>
          <p:nvPr/>
        </p:nvSpPr>
        <p:spPr>
          <a:xfrm>
            <a:off x="6492240" y="4069080"/>
            <a:ext cx="411480" cy="411480"/>
          </a:xfrm>
          <a:prstGeom prst="ellipse">
            <a:avLst/>
          </a:prstGeom>
          <a:solidFill>
            <a:srgbClr val="E4572E"/>
          </a:solidFill>
          <a:ln w="12700">
            <a:solidFill>
              <a:srgbClr val="E4572E"/>
            </a:solidFill>
            <a:prstDash val="solid"/>
          </a:ln>
        </p:spPr>
      </p:sp>
      <p:sp>
        <p:nvSpPr>
          <p:cNvPr id="20" name="Text 18"/>
          <p:cNvSpPr txBox="1"/>
          <p:nvPr/>
        </p:nvSpPr>
        <p:spPr>
          <a:xfrm>
            <a:off x="6492240" y="40690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7086600" y="4087368"/>
            <a:ext cx="4297680" cy="365760"/>
          </a:xfrm>
          <a:prstGeom prst="rect">
            <a:avLst/>
          </a:prstGeom>
          <a:noFill/>
          <a:ln/>
        </p:spPr>
        <p:txBody>
          <a:bodyPr wrap="square" lIns="0" tIns="0" rIns="0" bIns="0" rtlCol="0" anchor="t"/>
          <a:lstStyle/>
          <a:p>
            <a:pPr marL="0" indent="0">
              <a:buNone/>
            </a:pPr>
            <a:r>
              <a:rPr lang="en-US" sz="1900" b="1" dirty="0">
                <a:solidFill>
                  <a:srgbClr val="FFFFFF"/>
                </a:solidFill>
                <a:latin typeface="Cambria" pitchFamily="34" charset="0"/>
                <a:ea typeface="Cambria" pitchFamily="34" charset="-122"/>
                <a:cs typeface="Cambria" pitchFamily="34" charset="-120"/>
              </a:rPr>
              <a:t>Future scope</a:t>
            </a:r>
            <a:endParaRPr lang="en-US" sz="1900" dirty="0"/>
          </a:p>
        </p:txBody>
      </p:sp>
      <p:sp>
        <p:nvSpPr>
          <p:cNvPr id="22" name="Text 20"/>
          <p:cNvSpPr txBox="1"/>
          <p:nvPr/>
        </p:nvSpPr>
        <p:spPr>
          <a:xfrm>
            <a:off x="6492240" y="4709160"/>
            <a:ext cx="4846320" cy="1280160"/>
          </a:xfrm>
          <a:prstGeom prst="rect">
            <a:avLst/>
          </a:prstGeom>
          <a:noFill/>
          <a:ln/>
        </p:spPr>
        <p:txBody>
          <a:bodyPr wrap="square" lIns="0" tIns="0" rIns="0" bIns="0" rtlCol="0" anchor="t"/>
          <a:lstStyle/>
          <a:p>
            <a:pPr marL="0" indent="0">
              <a:buNone/>
            </a:pPr>
            <a:r>
              <a:rPr lang="en-US" sz="1400" dirty="0">
                <a:solidFill>
                  <a:srgbClr val="E3EAF6"/>
                </a:solidFill>
                <a:latin typeface="Calibri" pitchFamily="34" charset="0"/>
                <a:ea typeface="Calibri" pitchFamily="34" charset="-122"/>
                <a:cs typeface="Calibri" pitchFamily="34" charset="-120"/>
              </a:rPr>
              <a:t>Add more cities and station data, define duration-based heatwaves, use sub-daily data, and apply ML to predict Danger days or cluster cities by heat profile.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1321</Words>
  <Application>Microsoft Office PowerPoint</Application>
  <PresentationFormat>Widescreen</PresentationFormat>
  <Paragraphs>206</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Dhana Raj</cp:lastModifiedBy>
  <cp:revision>3</cp:revision>
  <dcterms:created xsi:type="dcterms:W3CDTF">2026-10-07T20:53:42Z</dcterms:created>
  <dcterms:modified xsi:type="dcterms:W3CDTF">2026-10-08T09:12:43Z</dcterms:modified>
</cp:coreProperties>
</file>